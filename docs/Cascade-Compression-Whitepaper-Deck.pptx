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8"/>
    <p:sldId id="257" r:id="rId17"/>
    <p:sldId id="258" r:id="rId16"/>
    <p:sldId id="259" r:id="rId15"/>
    <p:sldId id="260" r:id="rId14"/>
    <p:sldId id="261" r:id="rId13"/>
    <p:sldId id="262" r:id="rId12"/>
    <p:sldId id="263" r:id="rId11"/>
    <p:sldId id="264" r:id="rId10"/>
    <p:sldId id="265" r:id="rId9"/>
    <p:sldId id="266" r:id="rId8"/>
  </p:sldIdLst>
  <p:sldSz cy="6858000" cx="12192000"/>
  <p:notesSz cx="6858000" cy="9144000"/>
  <p:embeddedFontLst>
    <p:embeddedFont>
      <p:font typeface="Red Hat Text Medium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  <p:embeddedFont>
      <p:font typeface="Red Hat Tex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58">
          <p15:clr>
            <a:srgbClr val="9AA0A6"/>
          </p15:clr>
        </p15:guide>
      </p15:sldGuideLst>
    </p:ext>
    <p:ext uri="GoogleSlidesCustomDataVersion2">
      <go:slidesCustomData xmlns:go="http://customooxmlschemas.google.com/" r:id="rId35" roundtripDataSignature="AMtx7miaRspN9htrsTigzsb0GYQKKD7H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5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.xml"/><Relationship Id="rId19" Type="http://schemas.openxmlformats.org/officeDocument/2006/relationships/font" Target="fonts/RedHatTextMedium-regular.fntdata"/><Relationship Id="rId20" Type="http://schemas.openxmlformats.org/officeDocument/2006/relationships/font" Target="fonts/RedHatTextMedium-bold.fntdata"/><Relationship Id="rId21" Type="http://schemas.openxmlformats.org/officeDocument/2006/relationships/font" Target="fonts/RedHatTextMedium-italic.fntdata"/><Relationship Id="rId22" Type="http://schemas.openxmlformats.org/officeDocument/2006/relationships/font" Target="fonts/RedHatTextMedium-boldItalic.fntdata"/><Relationship Id="rId23" Type="http://schemas.openxmlformats.org/officeDocument/2006/relationships/font" Target="fonts/RedHatDisplayMedium-regular.fntdata"/><Relationship Id="rId24" Type="http://schemas.openxmlformats.org/officeDocument/2006/relationships/font" Target="fonts/RedHatDisplayMedium-bold.fntdata"/><Relationship Id="rId25" Type="http://schemas.openxmlformats.org/officeDocument/2006/relationships/font" Target="fonts/RedHatDisplayMedium-italic.fntdata"/><Relationship Id="rId26" Type="http://schemas.openxmlformats.org/officeDocument/2006/relationships/font" Target="fonts/RedHatDisplayMedium-boldItalic.fntdata"/><Relationship Id="rId27" Type="http://schemas.openxmlformats.org/officeDocument/2006/relationships/font" Target="fonts/RedHatDisplay-regular.fntdata"/><Relationship Id="rId28" Type="http://schemas.openxmlformats.org/officeDocument/2006/relationships/font" Target="fonts/RedHatDisplay-bold.fntdata"/><Relationship Id="rId29" Type="http://schemas.openxmlformats.org/officeDocument/2006/relationships/font" Target="fonts/RedHatDisplay-italic.fntdata"/><Relationship Id="rId30" Type="http://schemas.openxmlformats.org/officeDocument/2006/relationships/font" Target="fonts/RedHatDisplay-boldItalic.fntdata"/><Relationship Id="rId31" Type="http://schemas.openxmlformats.org/officeDocument/2006/relationships/font" Target="fonts/RedHatText-regular.fntdata"/><Relationship Id="rId32" Type="http://schemas.openxmlformats.org/officeDocument/2006/relationships/font" Target="fonts/RedHatText-bold.fntdata"/><Relationship Id="rId33" Type="http://schemas.openxmlformats.org/officeDocument/2006/relationships/font" Target="fonts/RedHatText-italic.fntdata"/><Relationship Id="rId34" Type="http://schemas.openxmlformats.org/officeDocument/2006/relationships/font" Target="fonts/RedHatText-boldItalic.fntdata"/><Relationship Id="rId3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" name="Google Shape;16;p1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" name="Google Shape;17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12" title="presentation-template-OpenShift-RH-lwetzel_cover-slide_A-dark.png"/>
          <p:cNvPicPr preferRelativeResize="0"/>
          <p:nvPr/>
        </p:nvPicPr>
        <p:blipFill rotWithShape="1">
          <a:blip r:embed="rId2">
            <a:alphaModFix/>
          </a:blip>
          <a:srcRect b="18208" l="66083" r="0" t="5064"/>
          <a:stretch/>
        </p:blipFill>
        <p:spPr>
          <a:xfrm>
            <a:off x="8404050" y="636650"/>
            <a:ext cx="3788027" cy="48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025" y="6191200"/>
            <a:ext cx="2247726" cy="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" name="Google Shape;24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1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0" name="Google Shape;30;p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10" y="6212235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6" name="Google Shape;36;p14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" name="Google Shape;37;p14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" name="Google Shape;38;p14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0" name="Google Shape;40;p14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2" name="Google Shape;42;p14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4" name="Google Shape;44;p14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6" name="Google Shape;46;p14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7" name="Google Shape;47;p1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5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57" name="Google Shape;57;p15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58" name="Google Shape;58;p1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cxnSp>
        <p:nvCxnSpPr>
          <p:cNvPr id="62" name="Google Shape;62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6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68" name="Google Shape;68;p1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8" name="Google Shape;78;p1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3" name="Google Shape;83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7" name="Google Shape;87;p18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" name="Google Shape;88;p18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1" name="Google Shape;91;p1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3" name="Google Shape;93;p1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5" name="Google Shape;95;p1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97" name="Google Shape;97;p1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8" name="Google Shape;98;p1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2446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1" name="Google Shape;101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9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12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Logo-Red_Hat-Intel-A-Standard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2" name="Google Shape;122;p20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23" name="Google Shape;123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38" name="Google Shape;138;p21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49" name="Google Shape;149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 1">
  <p:cSld name="TITLE_2_1_1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9" name="Google Shape;159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3" title="presentation-template-OpenShift-RH-lwetzel_cover-slide_collage-dark.png"/>
          <p:cNvPicPr preferRelativeResize="0"/>
          <p:nvPr/>
        </p:nvPicPr>
        <p:blipFill rotWithShape="1">
          <a:blip r:embed="rId2">
            <a:alphaModFix/>
          </a:blip>
          <a:srcRect b="14809" l="62774" r="0" t="12166"/>
          <a:stretch/>
        </p:blipFill>
        <p:spPr>
          <a:xfrm>
            <a:off x="8658550" y="933600"/>
            <a:ext cx="3533450" cy="38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5857028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72" name="Google Shape;172;p24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89" name="Google Shape;189;p2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09" name="Google Shape;209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2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5978524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14" name="Google Shape;214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2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021209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2" name="Google Shape;222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29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3026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3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0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34" name="Google Shape;234;p3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7" name="Google Shape;237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6" name="Google Shape;246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3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3" name="Google Shape;253;p3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4" name="Google Shape;254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6" name="Google Shape;256;p3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81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61" name="Google Shape;261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3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4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7" name="Google Shape;267;p34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34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3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841" y="62204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2" name="Google Shape;272;p35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3" name="Google Shape;273;p3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74" name="Google Shape;274;p35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7" name="Google Shape;277;p3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39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0" name="Google Shape;280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3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3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88" name="Google Shape;288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293" name="Google Shape;293;p37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4" name="Google Shape;294;p3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97" name="Google Shape;297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38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7315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11" name="Google Shape;311;p3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8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" name="Google Shape;313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9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3" name="Google Shape;323;p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24" name="Google Shape;324;p3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5" name="Google Shape;325;p39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6" name="Google Shape;326;p3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32" name="Google Shape;33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0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0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40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6" name="Google Shape;336;p40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7" name="Google Shape;337;p4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38" name="Google Shape;338;p40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39" name="Google Shape;339;p4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186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342" name="Google Shape;342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4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46" name="Google Shape;346;p4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4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3" name="Google Shape;353;p4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54" name="Google Shape;354;p42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355" name="Google Shape;355;p4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58" name="Google Shape;358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4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43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363" name="Google Shape;363;p4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66" name="Google Shape;366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0" name="Google Shape;370;p4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4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372" name="Google Shape;372;p4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73" name="Google Shape;373;p4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374" name="Google Shape;374;p4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6" name="Google Shape;376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4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" name="Google Shape;380;p4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1" name="Google Shape;381;p4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382" name="Google Shape;382;p4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3" name="Google Shape;383;p4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4" name="Google Shape;384;p4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5" name="Google Shape;385;p4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386" name="Google Shape;386;p4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7" name="Google Shape;387;p4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88" name="Google Shape;388;p4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89" name="Google Shape;389;p4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66" y="61653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2" name="Google Shape;392;p46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93" name="Google Shape;393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4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46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98" name="Google Shape;398;p46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9" name="Google Shape;399;p46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0" name="Google Shape;400;p46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01" name="Google Shape;401;p46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2" name="Google Shape;402;p46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03" name="Google Shape;403;p46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4" name="Google Shape;404;p4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05" name="Google Shape;405;p46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06" name="Google Shape;406;p4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4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2" name="Google Shape;412;p47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3" name="Google Shape;413;p47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14" name="Google Shape;414;p47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5" name="Google Shape;415;p47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16" name="Google Shape;416;p47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7" name="Google Shape;417;p47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18" name="Google Shape;418;p47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9" name="Google Shape;419;p4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20" name="Google Shape;420;p47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21" name="Google Shape;421;p4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4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7" name="Google Shape;427;p4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28" name="Google Shape;428;p48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29" name="Google Shape;429;p48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0" name="Google Shape;430;p48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1" name="Google Shape;431;p48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2" name="Google Shape;432;p48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3" name="Google Shape;433;p48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4" name="Google Shape;434;p48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35" name="Google Shape;435;p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36" name="Google Shape;436;p48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37" name="Google Shape;437;p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266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44" name="Google Shape;444;p49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5" name="Google Shape;445;p49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46" name="Google Shape;446;p49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7" name="Google Shape;447;p49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9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9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9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9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9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9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9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9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9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9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9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9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9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9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9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9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9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9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9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9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9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9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9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9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9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9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9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9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9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9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9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9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9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9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9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9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9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9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9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9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9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9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9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9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9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9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9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9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9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9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9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9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9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9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9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9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9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9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9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9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9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9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9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9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9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9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9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9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9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9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9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9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9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9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9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9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9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9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9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9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9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9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9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9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9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9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9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9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9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9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9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9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9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9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9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9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9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9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9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9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9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9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9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9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9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9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9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9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9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9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9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8" name="Google Shape;648;p4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49" name="Google Shape;649;p49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50" name="Google Shape;650;p4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8566" y="61645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5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6" name="Google Shape;656;p50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57" name="Google Shape;657;p50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58" name="Google Shape;658;p50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59" name="Google Shape;659;p50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0" name="Google Shape;660;p50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1" name="Google Shape;661;p50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2" name="Google Shape;662;p50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63" name="Google Shape;663;p50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pic>
        <p:nvPicPr>
          <p:cNvPr id="664" name="Google Shape;66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8" name="Google Shape;668;p5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69" name="Google Shape;669;p50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70" name="Google Shape;670;p5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2" name="Google Shape;672;p5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5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6" name="Google Shape;676;p51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77" name="Google Shape;677;p51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78" name="Google Shape;678;p51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79" name="Google Shape;679;p51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80" name="Google Shape;680;p51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681" name="Google Shape;68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1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4" name="Google Shape;684;p5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85" name="Google Shape;685;p51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86" name="Google Shape;686;p5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89" name="Google Shape;689;p5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5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52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94" name="Google Shape;694;p52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695" name="Google Shape;69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7773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8" name="Google Shape;698;p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5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2" name="Google Shape;702;p53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3" name="Google Shape;703;p53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4" name="Google Shape;704;p53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5" name="Google Shape;705;p53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6" name="Google Shape;706;p53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7" name="Google Shape;707;p53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8" name="Google Shape;708;p53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9" name="Google Shape;709;p53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0" name="Google Shape;710;p53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1" name="Google Shape;711;p5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12" name="Google Shape;712;p53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13" name="Google Shape;713;p5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5" name="Google Shape;715;p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5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9" name="Google Shape;719;p54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0" name="Google Shape;720;p54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1" name="Google Shape;721;p54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2" name="Google Shape;722;p54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3" name="Google Shape;723;p54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4" name="Google Shape;724;p54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5" name="Google Shape;725;p54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6" name="Google Shape;726;p54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7" name="Google Shape;727;p54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8" name="Google Shape;728;p54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9" name="Google Shape;729;p54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30" name="Google Shape;730;p5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31" name="Google Shape;731;p5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32" name="Google Shape;732;p5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33" name="Google Shape;733;p5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5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6" name="Google Shape;736;p55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737" name="Google Shape;737;p55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38" name="Google Shape;738;p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55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2" name="Google Shape;742;p55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3" name="Google Shape;743;p55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4" name="Google Shape;744;p55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5" name="Google Shape;745;p55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6" name="Google Shape;746;p55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7" name="Google Shape;747;p55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48" name="Google Shape;748;p5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0" name="Google Shape;750;p5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5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4" name="Google Shape;754;p56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/>
        </p:txBody>
      </p:sp>
      <p:sp>
        <p:nvSpPr>
          <p:cNvPr id="755" name="Google Shape;755;p5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56" name="Google Shape;756;p5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57" name="Google Shape;757;p5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58" name="Google Shape;758;p5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0" name="Google Shape;760;p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57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5" name="Google Shape;765;p5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6" name="Google Shape;766;p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67" name="Google Shape;767;p5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68" name="Google Shape;768;p5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12187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8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71" name="Google Shape;771;p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72" name="Google Shape;772;p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5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76" name="Google Shape;776;p5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9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79" name="Google Shape;779;p59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0" name="Google Shape;780;p59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781" name="Google Shape;781;p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5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83" name="Google Shape;783;p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59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86" name="Google Shape;78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8" name="Google Shape;788;p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9" name="Google Shape;789;p6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90" name="Google Shape;790;p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2" name="Google Shape;792;p6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3" name="Google Shape;793;p60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94" name="Google Shape;794;p60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95" name="Google Shape;795;p6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i="0" lang="en" sz="700" u="none" cap="none" strike="noStrike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b="0" i="0" sz="700" u="none" cap="none" strike="noStrike">
              <a:solidFill>
                <a:srgbClr val="00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9" name="Google Shape;9;p1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b="0" i="0" sz="800" u="none" cap="none" strike="noStrike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Eliminating 90% of AI Inference Through Self-Tuning Signal Processing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Cascade Compression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signal hits an LLM. That's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Enterprise AI processes millions of signals daily. The default: send everything to a model.</a:t>
            </a:r>
          </a:p>
          <a:p>
            <a:pPr>
              <a:spcBef>
                <a:spcPts val="600"/>
              </a:spcBef>
              <a:defRPr sz="1200" b="0"/>
            </a:pPr>
          </a:p>
          <a:p>
            <a:pPr>
              <a:spcBef>
                <a:spcPts val="600"/>
              </a:spcBef>
              <a:defRPr sz="1600" b="0">
                <a:solidFill>
                  <a:srgbClr val="1A1A2E"/>
                </a:solidFill>
              </a:defRPr>
            </a:pPr>
            <a:r>
              <a:t>10M transactions/day at a mid-size bank</a:t>
            </a:r>
          </a:p>
          <a:p>
            <a:pPr>
              <a:spcBef>
                <a:spcPts val="600"/>
              </a:spcBef>
              <a:defRPr sz="1600" b="0">
                <a:solidFill>
                  <a:srgbClr val="1A1A2E"/>
                </a:solidFill>
              </a:defRPr>
            </a:pPr>
            <a:r>
              <a:t>100K network elements generating millions of events at a telco</a:t>
            </a:r>
          </a:p>
          <a:p>
            <a:pPr>
              <a:spcBef>
                <a:spcPts val="600"/>
              </a:spcBef>
              <a:defRPr sz="1600" b="0">
                <a:solidFill>
                  <a:srgbClr val="1A1A2E"/>
                </a:solidFill>
              </a:defRPr>
            </a:pPr>
            <a:r>
              <a:t>Continuous vitals, labs, and alerts in healthcare</a:t>
            </a:r>
          </a:p>
          <a:p>
            <a:pPr>
              <a:spcBef>
                <a:spcPts val="600"/>
              </a:spcBef>
              <a:defRPr sz="1200" b="0"/>
            </a:pPr>
          </a:p>
          <a:p>
            <a:pPr>
              <a:spcBef>
                <a:spcPts val="600"/>
              </a:spcBef>
              <a:defRPr sz="1800" b="1">
                <a:solidFill>
                  <a:srgbClr val="0071C5"/>
                </a:solidFill>
              </a:defRPr>
            </a:pPr>
            <a:r>
              <a:t>But 85-99% of those signals are routine noise.</a:t>
            </a:r>
          </a:p>
          <a:p>
            <a:pPr>
              <a:spcBef>
                <a:spcPts val="600"/>
              </a:spcBef>
              <a:defRPr sz="1600" b="0">
                <a:solidFill>
                  <a:srgbClr val="6B7280"/>
                </a:solidFill>
              </a:defRPr>
            </a:pPr>
            <a:r>
              <a:t>Why run inference on signals you can handle with rules?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Cascade Compression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tiers. Most signals never touch a model.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</a:defRPr>
            </a:pPr>
            <a:r>
              <a:t>NANO TIER  (85-99%)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Deterministic agents: dedup, transient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suppression, severity gate, pattern matching</a:t>
            </a:r>
          </a:p>
          <a:p>
            <a:pPr>
              <a:spcBef>
                <a:spcPts val="600"/>
              </a:spcBef>
              <a:defRPr sz="1300" b="1">
                <a:solidFill>
                  <a:srgbClr val="1A1A2E"/>
                </a:solidFill>
              </a:defRPr>
            </a:pPr>
            <a:r>
              <a:t>Sub-millisecond. Zero inference cost.</a:t>
            </a:r>
          </a:p>
          <a:p>
            <a:pPr>
              <a:spcBef>
                <a:spcPts val="600"/>
              </a:spcBef>
              <a:defRPr sz="10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0071C5"/>
                </a:solidFill>
              </a:defRPr>
            </a:pPr>
            <a:r>
              <a:t>MICRO TIER  (1-15%)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IBM Granite 8B on Intel Xeon 6 CPU</a:t>
            </a:r>
          </a:p>
          <a:p>
            <a:pPr>
              <a:spcBef>
                <a:spcPts val="600"/>
              </a:spcBef>
              <a:defRPr sz="1300" b="1">
                <a:solidFill>
                  <a:srgbClr val="1A1A2E"/>
                </a:solidFill>
              </a:defRPr>
            </a:pPr>
            <a:r>
              <a:t>Sub-second classification. No GPU.</a:t>
            </a:r>
          </a:p>
          <a:p>
            <a:pPr>
              <a:spcBef>
                <a:spcPts val="600"/>
              </a:spcBef>
              <a:defRPr sz="10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F59E0B"/>
                </a:solidFill>
              </a:defRPr>
            </a:pPr>
            <a:r>
              <a:t>MACRO TIER  (rare)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Larger models for complex reasoning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Only genuinely hard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EE0000"/>
                </a:solidFill>
              </a:defRPr>
            </a:pPr>
            <a:r>
              <a:t>SELF-TUNING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Day 1: Cascade knows nothing.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Every signal goes to the LLM.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Day 2: Discovers patterns.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"87% are recurring merchants" → agent proposed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Week 2: 90%+ compression.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Dozens of agents, all self-discovered.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400" b="1">
                <a:solidFill>
                  <a:srgbClr val="0071C5"/>
                </a:solidFill>
              </a:defRPr>
            </a:pPr>
            <a:r>
              <a:t>Nobody writes rules.</a:t>
            </a:r>
          </a:p>
          <a:p>
            <a:pPr>
              <a:spcBef>
                <a:spcPts val="600"/>
              </a:spcBef>
              <a:defRPr sz="1400" b="1">
                <a:solidFill>
                  <a:srgbClr val="0071C5"/>
                </a:solidFill>
              </a:defRPr>
            </a:pPr>
            <a:r>
              <a:t>The cascade teaches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Domain-agnostic framework. Plug in any data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┌─────────────┐  ┌─────────────┐  ┌─────────────┐  ┌─────────────┐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K8s         │  │  AAP         │  │  Finance     │  │  Healthcare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Collector   │  │  Collector   │  │  Collector   │  │  Collector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└──────┬───────┘  └──────┬───────┘  └──────┬───────┘  └──────┬───────┘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│                 │                 │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└────────┬────────┘────────┬────────┘────────┬────────┘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│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▼                                   ▼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CASCADE FRAMEWORK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            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Stage 1: Dedup → Transient → Severity Gate     (microseconds)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Stage 2: Pattern Classifier → Threshold         (microseconds)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Stage 3: Learned Agents (self-discovered)       (microseconds)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      │     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Survivors (1-15%)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      │     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        ▼     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Granite 8B on CPU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│                  (sub-second)        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    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┌────────┴────────┐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│   Immutable  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│   Ledger        │  ← optional governance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│   + GCL Audit   │</a:t>
            </a:r>
          </a:p>
          <a:p>
            <a:pPr>
              <a:spcBef>
                <a:spcPts val="600"/>
              </a:spcBef>
              <a:defRPr sz="1000" b="0">
                <a:solidFill>
                  <a:srgbClr val="1A1A2E"/>
                </a:solidFill>
              </a:defRPr>
            </a:pPr>
            <a:r>
              <a:t>                    └─────────────────┘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 Agnostic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framework. Seven domains. Zero engine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Compression    Critical Survival   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  Kubernetes          72.9%          0 FN            Live — 7.1M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  Ansible AAP         96.0%          0 FN            Live — 1.0M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553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Finance             61.1%          92.7%           Synthetic — 110K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958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Healthcare          91.0%          96.6%           Synthetic — 100K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3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Insurance           81.2%          100%            Synthetic — 100K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Retail              88.3%          100%            Synthetic — 100K POS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8172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Telecom             94.3%          92.1%           Synthetic — 100K network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1C5"/>
                </a:solidFill>
              </a:defRPr>
            </a:pPr>
            <a:r>
              <a:t>These are cold-start numbers. The cascade learns from LLM feedback and improves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Benchmarks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inference is fast enough when 99% of signals don't need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</a:defRPr>
            </a:pPr>
            <a:r>
              <a:t>  Model                     Score    Latency    Dangerous Misses   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granite-3-2-8b-instruct         14/20     860ms       0                   racmaas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phi4-mini (3.8B)                14/20     734ms       0                   Oberon 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553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granite-4.1-3b                  14/20     888ms       3                   Oberon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958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  granite-2b                      13/20     677ms       1                   racmaas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39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1C5"/>
                </a:solidFill>
              </a:defRPr>
            </a:pPr>
            <a:r>
              <a:t>100% deterministic at temp=0. Same input, same output, every time.</a:t>
            </a:r>
            <a:br/>
            <a:r>
              <a:t>Precision: 100% — all 30 sampled "important" signals confirmed genuinely important.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 Cost of Ownership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sp>
        <p:nvSpPr>
          <p:cNvPr id="6" name="Subtitle 5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/>
        </p:txBody>
      </p:sp>
      <p:sp>
        <p:nvSpPr>
          <p:cNvPr id="7" name="Subtitle 6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/>
        </p:txBody>
      </p:sp>
      <p:sp>
        <p:nvSpPr>
          <p:cNvPr id="8" name="Subtitle 7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/>
        </p:txBody>
      </p:sp>
      <p:sp>
        <p:nvSpPr>
          <p:cNvPr id="9" name="Subtitle 8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/>
        </p:txBody>
      </p:sp>
      <p:sp>
        <p:nvSpPr>
          <p:cNvPr id="10" name="Subtitle 9"/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/>
        </p:txBody>
      </p:sp>
      <p:sp>
        <p:nvSpPr>
          <p:cNvPr id="11" name="Subtitle 10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  <p:sp>
        <p:nvSpPr>
          <p:cNvPr id="12" name="Subtitle 11"/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/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 the model to the silicon, and the economics change</a:t>
            </a:r>
          </a:p>
        </p:txBody>
      </p:sp>
      <p:sp>
        <p:nvSpPr>
          <p:cNvPr id="14" name="Subtitle 13"/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2000" b="1">
                <a:solidFill>
                  <a:srgbClr val="1A1A2E"/>
                </a:solidFill>
              </a:defRPr>
            </a:pPr>
            <a:r>
              <a:t>3-Year TCO — 10M signals/day</a:t>
            </a:r>
          </a:p>
          <a:p>
            <a:pPr>
              <a:spcBef>
                <a:spcPts val="600"/>
              </a:spcBef>
              <a:defRPr sz="10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</a:defRPr>
            </a:pPr>
            <a:r>
              <a:t>  Cascade on Xeon 6          $33K         16.5 CPU, 16 GB, 1200W</a:t>
            </a:r>
          </a:p>
          <a:p>
            <a:pPr>
              <a:spcBef>
                <a:spcPts val="600"/>
              </a:spcBef>
              <a:defRPr sz="600" b="0"/>
            </a:pPr>
          </a:p>
          <a:p>
            <a:pPr>
              <a:spcBef>
                <a:spcPts val="600"/>
              </a:spcBef>
              <a:defRPr sz="1600" b="0">
                <a:solidFill>
                  <a:srgbClr val="1A1A2E"/>
                </a:solidFill>
              </a:defRPr>
            </a:pPr>
            <a:r>
              <a:t>  GPU inference (H100)       $266K        8 CPU, 80 GB, 6000W</a:t>
            </a:r>
          </a:p>
          <a:p>
            <a:pPr>
              <a:spcBef>
                <a:spcPts val="600"/>
              </a:spcBef>
              <a:defRPr sz="600" b="0"/>
            </a:pPr>
          </a:p>
          <a:p>
            <a:pPr>
              <a:spcBef>
                <a:spcPts val="600"/>
              </a:spcBef>
              <a:defRPr sz="1600" b="0">
                <a:solidFill>
                  <a:srgbClr val="1A1A2E"/>
                </a:solidFill>
              </a:defRPr>
            </a:pPr>
            <a:r>
              <a:t>  Cloud API                  $540K        $15K/month</a:t>
            </a:r>
          </a:p>
          <a:p>
            <a:pPr>
              <a:spcBef>
                <a:spcPts val="600"/>
              </a:spcBef>
              <a:defRPr sz="1400" b="0"/>
            </a:pPr>
          </a:p>
          <a:p>
            <a:pPr>
              <a:spcBef>
                <a:spcPts val="600"/>
              </a:spcBef>
              <a:defRPr sz="1800" b="1">
                <a:solidFill>
                  <a:srgbClr val="0071C5"/>
                </a:solidFill>
              </a:defRPr>
            </a:pPr>
            <a:r>
              <a:t>The cascade makes CPU viable because the LLM barely runs.</a:t>
            </a:r>
          </a:p>
          <a:p>
            <a:pPr>
              <a:spcBef>
                <a:spcPts val="600"/>
              </a:spcBef>
              <a:defRPr sz="1500" b="0">
                <a:solidFill>
                  <a:srgbClr val="1A1A2E"/>
                </a:solidFill>
              </a:defRPr>
            </a:pPr>
            <a:r>
              <a:t>At 90% compression, 10M signals → 1M LLM calls.</a:t>
            </a:r>
          </a:p>
          <a:p>
            <a:pPr>
              <a:spcBef>
                <a:spcPts val="600"/>
              </a:spcBef>
              <a:defRPr sz="1500" b="0">
                <a:solidFill>
                  <a:srgbClr val="1A1A2E"/>
                </a:solidFill>
              </a:defRPr>
            </a:pPr>
            <a:r>
              <a:t>One granite-8b replica handles that with headroom. No GPU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 in, replay, go live. The cascade bootstraps itself.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1A1A2E"/>
                </a:solidFill>
              </a:defRPr>
            </a:pPr>
            <a:r>
              <a:t>A new domain needs 3 things: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500" b="1">
                <a:solidFill>
                  <a:srgbClr val="0071C5"/>
                </a:solidFill>
              </a:defRPr>
            </a:pPr>
            <a:r>
              <a:t>1. Collector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   Reads your data source (DB, API, file)</a:t>
            </a:r>
          </a:p>
          <a:p>
            <a:pPr>
              <a:spcBef>
                <a:spcPts val="600"/>
              </a:spcBef>
              <a:defRPr sz="600" b="0"/>
            </a:pPr>
          </a:p>
          <a:p>
            <a:pPr>
              <a:spcBef>
                <a:spcPts val="600"/>
              </a:spcBef>
              <a:defRPr sz="1500" b="1">
                <a:solidFill>
                  <a:srgbClr val="0071C5"/>
                </a:solidFill>
              </a:defRPr>
            </a:pPr>
            <a:r>
              <a:t>2. Prompt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   One paragraph. Four classification buckets.</a:t>
            </a:r>
          </a:p>
          <a:p>
            <a:pPr>
              <a:spcBef>
                <a:spcPts val="600"/>
              </a:spcBef>
              <a:defRPr sz="600" b="0"/>
            </a:pPr>
          </a:p>
          <a:p>
            <a:pPr>
              <a:spcBef>
                <a:spcPts val="600"/>
              </a:spcBef>
              <a:defRPr sz="1500" b="1">
                <a:solidFill>
                  <a:srgbClr val="0071C5"/>
                </a:solidFill>
              </a:defRPr>
            </a:pPr>
            <a:r>
              <a:t>3. Historical data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   Replay to bootstrap. Smart on day one.</a:t>
            </a:r>
          </a:p>
          <a:p>
            <a:pPr>
              <a:spcBef>
                <a:spcPts val="600"/>
              </a:spcBef>
              <a:defRPr sz="1000" b="0"/>
            </a:pPr>
          </a:p>
          <a:p>
            <a:pPr>
              <a:spcBef>
                <a:spcPts val="600"/>
              </a:spcBef>
              <a:defRPr sz="1500" b="1">
                <a:solidFill>
                  <a:srgbClr val="EE0000"/>
                </a:solidFill>
              </a:defRPr>
            </a:pPr>
            <a:r>
              <a:t>No framework changes.</a:t>
            </a:r>
          </a:p>
          <a:p>
            <a:pPr>
              <a:spcBef>
                <a:spcPts val="600"/>
              </a:spcBef>
              <a:defRPr sz="1500" b="1">
                <a:solidFill>
                  <a:srgbClr val="EE0000"/>
                </a:solidFill>
              </a:defRPr>
            </a:pPr>
            <a:r>
              <a:t>No rules to write.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1400" b="1">
                <a:solidFill>
                  <a:srgbClr val="1A1A2E"/>
                </a:solidFill>
              </a:defRPr>
            </a:pPr>
            <a:r>
              <a:t>Observed on AAP (live):</a:t>
            </a:r>
          </a:p>
          <a:p>
            <a:pPr>
              <a:spcBef>
                <a:spcPts val="600"/>
              </a:spcBef>
              <a:defRPr sz="600" b="0"/>
            </a:pP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T+0       Zero agents. All to LLM.</a:t>
            </a:r>
          </a:p>
          <a:p>
            <a:pPr>
              <a:spcBef>
                <a:spcPts val="600"/>
              </a:spcBef>
              <a:defRPr sz="400" b="0"/>
            </a:pP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T+5min    job_succeeded detected as</a:t>
            </a: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          92% of volume. Agent proposed.</a:t>
            </a:r>
          </a:p>
          <a:p>
            <a:pPr>
              <a:spcBef>
                <a:spcPts val="600"/>
              </a:spcBef>
              <a:defRPr sz="400" b="0"/>
            </a:pP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T+15min   LLM validates. Agent promoted.</a:t>
            </a:r>
          </a:p>
          <a:p>
            <a:pPr>
              <a:spcBef>
                <a:spcPts val="600"/>
              </a:spcBef>
              <a:defRPr sz="1300" b="0">
                <a:solidFill>
                  <a:srgbClr val="22C55E"/>
                </a:solidFill>
              </a:defRPr>
            </a:pPr>
            <a:r>
              <a:t>          job_succeeded never hits LLM again.</a:t>
            </a:r>
          </a:p>
          <a:p>
            <a:pPr>
              <a:spcBef>
                <a:spcPts val="600"/>
              </a:spcBef>
              <a:defRPr sz="400" b="0"/>
            </a:pPr>
          </a:p>
          <a:p>
            <a:pPr>
              <a:spcBef>
                <a:spcPts val="600"/>
              </a:spcBef>
              <a:defRPr sz="1300" b="0">
                <a:solidFill>
                  <a:srgbClr val="1A1A2E"/>
                </a:solidFill>
              </a:defRPr>
            </a:pPr>
            <a:r>
              <a:t>T+60min   5 agents activated.</a:t>
            </a:r>
          </a:p>
          <a:p>
            <a:pPr>
              <a:spcBef>
                <a:spcPts val="600"/>
              </a:spcBef>
              <a:defRPr sz="1300" b="1">
                <a:solidFill>
                  <a:srgbClr val="22C55E"/>
                </a:solidFill>
              </a:defRPr>
            </a:pPr>
            <a:r>
              <a:t>          96% compression. 0 FN.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Governance (Regulated Industries)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independent systems. Nobody grades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2000" b="1">
                <a:solidFill>
                  <a:srgbClr val="1A1A2E"/>
                </a:solidFill>
              </a:defRPr>
            </a:pPr>
            <a:r>
              <a:t>Cascade decides  →  Ledger records  →  GCL audits</a:t>
            </a:r>
          </a:p>
          <a:p>
            <a:pPr>
              <a:spcBef>
                <a:spcPts val="600"/>
              </a:spcBef>
              <a:defRPr sz="12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0071C5"/>
                </a:solidFill>
              </a:defRPr>
            </a:pPr>
            <a:r>
              <a:t>Immutable Ledger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Every decision hash-chained. Append-only. No UPDATE, no DELETE.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Full audit trail for regulators.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EE0000"/>
                </a:solidFill>
              </a:defRPr>
            </a:pPr>
            <a:r>
              <a:t>Governed Cognitive Loop (GCL)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Independent system samples drops. Re-evaluates with its own LLM.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Falsifies cascade decisions. Records verdicts to the ledger.</a:t>
            </a:r>
          </a:p>
          <a:p>
            <a:pPr>
              <a:spcBef>
                <a:spcPts val="600"/>
              </a:spcBef>
              <a:defRPr sz="800" b="0"/>
            </a:pPr>
          </a:p>
          <a:p>
            <a:pPr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Governance overhead: +3.5 CPU, +2.8 GB</a:t>
            </a:r>
          </a:p>
          <a:p>
            <a:pPr>
              <a:spcBef>
                <a:spcPts val="600"/>
              </a:spcBef>
              <a:defRPr sz="1400" b="0">
                <a:solidFill>
                  <a:srgbClr val="6B7280"/>
                </a:solidFill>
              </a:defRPr>
            </a:pPr>
            <a:r>
              <a:t>27% overhead for full auditability. For regulated industries, not optional.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Get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this deck to production on your own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</a:p>
          <a:p>
            <a:pPr>
              <a:spcBef>
                <a:spcPts val="600"/>
              </a:spcBef>
              <a:defRPr sz="1800" b="1">
                <a:solidFill>
                  <a:srgbClr val="1A1A2E"/>
                </a:solidFill>
              </a:defRPr>
            </a:pPr>
            <a:r>
              <a:t>pip install cascade-compression</a:t>
            </a:r>
          </a:p>
          <a:p>
            <a:pPr>
              <a:spcBef>
                <a:spcPts val="600"/>
              </a:spcBef>
              <a:defRPr sz="1000" b="0"/>
            </a:pP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cascade-run --domain finance --llm-url https://your-llm/v1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cascade-replay --domain healthcare --data patient_events.csv</a:t>
            </a:r>
          </a:p>
          <a:p>
            <a:pPr>
              <a:spcBef>
                <a:spcPts val="600"/>
              </a:spcBef>
              <a:defRPr sz="14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0071C5"/>
                </a:solidFill>
              </a:defRPr>
            </a:pPr>
            <a:r>
              <a:t>What you need: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Intel Xeon 6 server (or any CPU — $30K)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IBM Granite 8B via llama.cpp (no GPU)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Your data source and a one-paragraph prompt</a:t>
            </a:r>
          </a:p>
          <a:p>
            <a:pPr>
              <a:spcBef>
                <a:spcPts val="600"/>
              </a:spcBef>
              <a:defRPr sz="1400" b="0"/>
            </a:pPr>
          </a:p>
          <a:p>
            <a:pPr>
              <a:spcBef>
                <a:spcPts val="600"/>
              </a:spcBef>
              <a:defRPr sz="1600" b="1">
                <a:solidFill>
                  <a:srgbClr val="22C55E"/>
                </a:solidFill>
              </a:defRPr>
            </a:pPr>
            <a:r>
              <a:t>What you get: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60-96% compression on day one, improving daily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0 dangerous misses across 7 tested domains</a:t>
            </a:r>
          </a:p>
          <a:p>
            <a:pPr>
              <a:spcBef>
                <a:spcPts val="600"/>
              </a:spcBef>
              <a:defRPr sz="1400" b="0">
                <a:solidFill>
                  <a:srgbClr val="1A1A2E"/>
                </a:solidFill>
              </a:defRPr>
            </a:pPr>
            <a:r>
              <a:t>  • $33K 3-year TCO vs $540K cloud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Schedule a demo. Bring your data. See the compression in real time.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Cascade Compression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