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8"/>
    <p:sldId id="257" r:id="rId17"/>
    <p:sldId id="258" r:id="rId16"/>
    <p:sldId id="259" r:id="rId15"/>
    <p:sldId id="260" r:id="rId14"/>
    <p:sldId id="261" r:id="rId13"/>
    <p:sldId id="262" r:id="rId12"/>
    <p:sldId id="263" r:id="rId11"/>
    <p:sldId id="264" r:id="rId10"/>
    <p:sldId id="265" r:id="rId9"/>
    <p:sldId id="266" r:id="rId8"/>
  </p:sldIdLst>
  <p:sldSz cy="6858000" cx="12192000"/>
  <p:notesSz cx="6858000" cy="9144000"/>
  <p:embeddedFontLst>
    <p:embeddedFont>
      <p:font typeface="Red Hat Text Medium"/>
      <p:regular r:id="rId19"/>
      <p:bold r:id="rId20"/>
      <p:italic r:id="rId21"/>
      <p:boldItalic r:id="rId22"/>
    </p:embeddedFont>
    <p:embeddedFont>
      <p:font typeface="Red Hat Display Medium"/>
      <p:regular r:id="rId23"/>
      <p:bold r:id="rId24"/>
      <p:italic r:id="rId25"/>
      <p:boldItalic r:id="rId26"/>
    </p:embeddedFont>
    <p:embeddedFont>
      <p:font typeface="Red Hat Display"/>
      <p:regular r:id="rId27"/>
      <p:bold r:id="rId28"/>
      <p:italic r:id="rId29"/>
      <p:boldItalic r:id="rId30"/>
    </p:embeddedFont>
    <p:embeddedFont>
      <p:font typeface="Red Hat Text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58">
          <p15:clr>
            <a:srgbClr val="9AA0A6"/>
          </p15:clr>
        </p15:guide>
      </p15:sldGuideLst>
    </p:ext>
    <p:ext uri="GoogleSlidesCustomDataVersion2">
      <go:slidesCustomData xmlns:go="http://customooxmlschemas.google.com/" r:id="rId35" roundtripDataSignature="AMtx7miaRspN9htrsTigzsb0GYQKKD7H3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5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2.xml"/><Relationship Id="rId18" Type="http://schemas.openxmlformats.org/officeDocument/2006/relationships/slide" Target="slides/slide1.xml"/><Relationship Id="rId19" Type="http://schemas.openxmlformats.org/officeDocument/2006/relationships/font" Target="fonts/RedHatTextMedium-regular.fntdata"/><Relationship Id="rId20" Type="http://schemas.openxmlformats.org/officeDocument/2006/relationships/font" Target="fonts/RedHatTextMedium-bold.fntdata"/><Relationship Id="rId21" Type="http://schemas.openxmlformats.org/officeDocument/2006/relationships/font" Target="fonts/RedHatTextMedium-italic.fntdata"/><Relationship Id="rId22" Type="http://schemas.openxmlformats.org/officeDocument/2006/relationships/font" Target="fonts/RedHatTextMedium-boldItalic.fntdata"/><Relationship Id="rId23" Type="http://schemas.openxmlformats.org/officeDocument/2006/relationships/font" Target="fonts/RedHatDisplayMedium-regular.fntdata"/><Relationship Id="rId24" Type="http://schemas.openxmlformats.org/officeDocument/2006/relationships/font" Target="fonts/RedHatDisplayMedium-bold.fntdata"/><Relationship Id="rId25" Type="http://schemas.openxmlformats.org/officeDocument/2006/relationships/font" Target="fonts/RedHatDisplayMedium-italic.fntdata"/><Relationship Id="rId26" Type="http://schemas.openxmlformats.org/officeDocument/2006/relationships/font" Target="fonts/RedHatDisplayMedium-boldItalic.fntdata"/><Relationship Id="rId27" Type="http://schemas.openxmlformats.org/officeDocument/2006/relationships/font" Target="fonts/RedHatDisplay-regular.fntdata"/><Relationship Id="rId28" Type="http://schemas.openxmlformats.org/officeDocument/2006/relationships/font" Target="fonts/RedHatDisplay-bold.fntdata"/><Relationship Id="rId29" Type="http://schemas.openxmlformats.org/officeDocument/2006/relationships/font" Target="fonts/RedHatDisplay-italic.fntdata"/><Relationship Id="rId30" Type="http://schemas.openxmlformats.org/officeDocument/2006/relationships/font" Target="fonts/RedHatDisplay-boldItalic.fntdata"/><Relationship Id="rId31" Type="http://schemas.openxmlformats.org/officeDocument/2006/relationships/font" Target="fonts/RedHatText-regular.fntdata"/><Relationship Id="rId32" Type="http://schemas.openxmlformats.org/officeDocument/2006/relationships/font" Target="fonts/RedHatText-bold.fntdata"/><Relationship Id="rId33" Type="http://schemas.openxmlformats.org/officeDocument/2006/relationships/font" Target="fonts/RedHatText-italic.fntdata"/><Relationship Id="rId34" Type="http://schemas.openxmlformats.org/officeDocument/2006/relationships/font" Target="fonts/RedHatText-boldItalic.fntdata"/><Relationship Id="rId3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9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2" name="Google Shape;12;p1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1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" name="Google Shape;16;p1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7" name="Google Shape;17;p1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1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" name="Google Shape;19;p12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1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1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4" name="Google Shape;24;p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1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" name="Google Shape;27;p1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8" name="Google Shape;28;p1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0" name="Google Shape;30;p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Google Shape;32;p1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" name="Google Shape;33;p1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1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36" name="Google Shape;36;p14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37" name="Google Shape;37;p14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38" name="Google Shape;38;p14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" name="Google Shape;39;p14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0" name="Google Shape;40;p14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" name="Google Shape;41;p14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2" name="Google Shape;42;p14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3" name="Google Shape;43;p14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4" name="Google Shape;44;p14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5" name="Google Shape;45;p1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6" name="Google Shape;46;p14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7" name="Google Shape;47;p1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" name="Google Shape;49;p1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" name="Google Shape;50;p1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p1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3" name="Google Shape;53;p15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55" name="Google Shape;55;p15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57" name="Google Shape;57;p15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58" name="Google Shape;58;p1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1" name="Google Shape;61;p1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62" name="Google Shape;62;p1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6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6" name="Google Shape;66;p1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" name="Google Shape;67;p16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68" name="Google Shape;68;p1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" name="Google Shape;70;p1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" name="Google Shape;72;p1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" name="Google Shape;76;p1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7" name="Google Shape;77;p1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8" name="Google Shape;78;p1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1" name="Google Shape;81;p1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2" name="Google Shape;82;p1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3" name="Google Shape;83;p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4" name="Google Shape;84;p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7" name="Google Shape;87;p1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8" name="Google Shape;88;p1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9" name="Google Shape;89;p1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1" name="Google Shape;91;p1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" name="Google Shape;92;p1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3" name="Google Shape;93;p1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" name="Google Shape;94;p1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5" name="Google Shape;95;p1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6" name="Google Shape;96;p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7" name="Google Shape;97;p1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8" name="Google Shape;98;p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1" name="Google Shape;101;p1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19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3" name="Google Shape;103;p19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5" name="Google Shape;105;p19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7" name="Google Shape;107;p19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9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9" name="Google Shape;109;p19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112" name="Google Shape;1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0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2" name="Google Shape;122;p20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23" name="Google Shape;123;p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5" name="Google Shape;1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1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1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5" name="Google Shape;135;p21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38" name="Google Shape;138;p21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1" name="Google Shape;141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6" name="Google Shape;146;p2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7" name="Google Shape;147;p2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8" name="Google Shape;148;p2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49" name="Google Shape;149;p2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1" name="Google Shape;151;p2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6" name="Google Shape;156;p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7" name="Google Shape;157;p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8" name="Google Shape;158;p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59" name="Google Shape;159;p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1" name="Google Shape;161;p23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5" name="Google Shape;165;p24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4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67" name="Google Shape;167;p24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8" name="Google Shape;168;p24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9" name="Google Shape;169;p24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0" name="Google Shape;170;p24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1" name="Google Shape;171;p24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72" name="Google Shape;172;p24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" name="Google Shape;173;p2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2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5" name="Google Shape;17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4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2" name="Google Shape;182;p25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5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84" name="Google Shape;184;p25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5" name="Google Shape;185;p25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7" name="Google Shape;187;p25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89" name="Google Shape;189;p25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0" name="Google Shape;190;p2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2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2" name="Google Shape;19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5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9" name="Google Shape;199;p2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0" name="Google Shape;200;p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2" name="Google Shape;202;p2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7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27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7" name="Google Shape;207;p27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08" name="Google Shape;208;p27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09" name="Google Shape;209;p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1" name="Google Shape;211;p2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14" name="Google Shape;214;p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5" name="Google Shape;215;p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p2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17" name="Google Shape;217;p2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218" name="Google Shape;218;p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9" name="Google Shape;219;p2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9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22" name="Google Shape;222;p2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2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29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25" name="Google Shape;225;p29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2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2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9" name="Google Shape;229;p3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0" name="Google Shape;230;p3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3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32" name="Google Shape;232;p3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30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234" name="Google Shape;234;p3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37" name="Google Shape;237;p3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8" name="Google Shape;238;p3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3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0" name="Google Shape;240;p3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241" name="Google Shape;241;p3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2" name="Google Shape;242;p3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3" name="Google Shape;243;p3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2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246" name="Google Shape;246;p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3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3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9" name="Google Shape;249;p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0" name="Google Shape;250;p3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3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53" name="Google Shape;253;p33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254" name="Google Shape;254;p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5" name="Google Shape;255;p33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56" name="Google Shape;256;p33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p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3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4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61" name="Google Shape;261;p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2" name="Google Shape;262;p34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263" name="Google Shape;263;p34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5" name="Google Shape;265;p34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6" name="Google Shape;266;p34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267" name="Google Shape;267;p34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8" name="Google Shape;268;p34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9" name="Google Shape;269;p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5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72" name="Google Shape;272;p35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73" name="Google Shape;273;p3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74" name="Google Shape;274;p35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5" name="Google Shape;275;p3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6" name="Google Shape;276;p3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77" name="Google Shape;277;p3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0" name="Google Shape;280;p3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1" name="Google Shape;281;p3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2" name="Google Shape;282;p3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3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84" name="Google Shape;284;p3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5" name="Google Shape;285;p3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88" name="Google Shape;288;p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9" name="Google Shape;289;p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0" name="Google Shape;290;p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1" name="Google Shape;291;p3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2" name="Google Shape;292;p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293" name="Google Shape;293;p37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294" name="Google Shape;294;p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97" name="Google Shape;297;p3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8" name="Google Shape;298;p3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3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0" name="Google Shape;300;p3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1" name="Google Shape;301;p38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8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8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7" name="Google Shape;307;p38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8" name="Google Shape;308;p38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9" name="Google Shape;309;p3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10" name="Google Shape;310;p38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11" name="Google Shape;311;p3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" name="Google Shape;313;p3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4" name="Google Shape;314;p3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" name="Google Shape;315;p3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6" name="Google Shape;316;p3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17" name="Google Shape;317;p39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9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9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9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22" name="Google Shape;322;p3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23" name="Google Shape;323;p3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24" name="Google Shape;324;p39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25" name="Google Shape;325;p39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326" name="Google Shape;326;p3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9" name="Google Shape;329;p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0" name="Google Shape;330;p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1" name="Google Shape;331;p4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32" name="Google Shape;33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0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4" name="Google Shape;334;p40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5" name="Google Shape;335;p40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6" name="Google Shape;336;p40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37" name="Google Shape;337;p4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38" name="Google Shape;338;p40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39" name="Google Shape;339;p4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42" name="Google Shape;342;p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3" name="Google Shape;343;p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" name="Google Shape;344;p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5" name="Google Shape;345;p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6" name="Google Shape;346;p4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" name="Google Shape;348;p4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9" name="Google Shape;349;p4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" name="Google Shape;350;p4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42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2" name="Google Shape;352;p4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53" name="Google Shape;353;p4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54" name="Google Shape;354;p42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55" name="Google Shape;355;p4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58" name="Google Shape;358;p4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9" name="Google Shape;359;p4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4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1" name="Google Shape;361;p4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2" name="Google Shape;362;p43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63" name="Google Shape;363;p4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66" name="Google Shape;366;p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7" name="Google Shape;367;p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8" name="Google Shape;368;p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9" name="Google Shape;369;p4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370" name="Google Shape;370;p44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1" name="Google Shape;371;p44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372" name="Google Shape;372;p44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73" name="Google Shape;373;p44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374" name="Google Shape;374;p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6" name="Google Shape;376;p4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7" name="Google Shape;377;p4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8" name="Google Shape;378;p4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4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80" name="Google Shape;380;p45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1" name="Google Shape;381;p45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382" name="Google Shape;382;p45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3" name="Google Shape;383;p45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4" name="Google Shape;384;p45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5" name="Google Shape;385;p45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386" name="Google Shape;386;p45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7" name="Google Shape;387;p4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88" name="Google Shape;388;p45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89" name="Google Shape;389;p4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92" name="Google Shape;392;p4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393" name="Google Shape;393;p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4" name="Google Shape;394;p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5" name="Google Shape;395;p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6" name="Google Shape;396;p4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97" name="Google Shape;397;p4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398" name="Google Shape;398;p4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399" name="Google Shape;399;p4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0" name="Google Shape;400;p4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01" name="Google Shape;401;p4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2" name="Google Shape;402;p4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03" name="Google Shape;403;p4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4" name="Google Shape;404;p4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05" name="Google Shape;405;p4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06" name="Google Shape;406;p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8" name="Google Shape;408;p4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9" name="Google Shape;409;p4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4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1" name="Google Shape;411;p4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12" name="Google Shape;412;p47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13" name="Google Shape;413;p47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14" name="Google Shape;414;p47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5" name="Google Shape;415;p47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6" name="Google Shape;416;p47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7" name="Google Shape;417;p47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8" name="Google Shape;418;p47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9" name="Google Shape;419;p4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20" name="Google Shape;420;p47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21" name="Google Shape;421;p4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3" name="Google Shape;423;p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4" name="Google Shape;424;p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5" name="Google Shape;425;p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4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7" name="Google Shape;427;p4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28" name="Google Shape;428;p4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29" name="Google Shape;429;p4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0" name="Google Shape;430;p4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1" name="Google Shape;431;p4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2" name="Google Shape;432;p4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3" name="Google Shape;433;p4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4" name="Google Shape;434;p4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35" name="Google Shape;435;p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36" name="Google Shape;436;p4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37" name="Google Shape;437;p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9" name="Google Shape;439;p4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0" name="Google Shape;440;p4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4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2" name="Google Shape;442;p4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3" name="Google Shape;443;p49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44" name="Google Shape;444;p49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5" name="Google Shape;445;p49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46" name="Google Shape;446;p49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7" name="Google Shape;447;p49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9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49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49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9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9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9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9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9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9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9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9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9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9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9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9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9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9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9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9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9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9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9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9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9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9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9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9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49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49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9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9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9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9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9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9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9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9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9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49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9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9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9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9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9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9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9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9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49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49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9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49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9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9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9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49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9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49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49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49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49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9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9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9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9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9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9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49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9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49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9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49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9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9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9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9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9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9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9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9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9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49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49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9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9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9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9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9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49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9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9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49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49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9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49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49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49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49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49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9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49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49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49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9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49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49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49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49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49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49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49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49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49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9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9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9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49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9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9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49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49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9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49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49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49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9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49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9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49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49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49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49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49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49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49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49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9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49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49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49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49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49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49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49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49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49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49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49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9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49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49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9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9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9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9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9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9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9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9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9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49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9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49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9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9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9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9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49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49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49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49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9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9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9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9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9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9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9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9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49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49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9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9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49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9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9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9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9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9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9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9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9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9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9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9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9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48" name="Google Shape;648;p4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49" name="Google Shape;649;p49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50" name="Google Shape;650;p4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2" name="Google Shape;652;p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3" name="Google Shape;653;p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4" name="Google Shape;654;p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5" name="Google Shape;655;p5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56" name="Google Shape;656;p50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657" name="Google Shape;657;p50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58" name="Google Shape;658;p50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59" name="Google Shape;659;p50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0" name="Google Shape;660;p50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1" name="Google Shape;661;p50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2" name="Google Shape;662;p50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63" name="Google Shape;663;p50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664" name="Google Shape;664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5" name="Google Shape;665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6" name="Google Shape;66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50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68" name="Google Shape;668;p5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69" name="Google Shape;669;p50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70" name="Google Shape;670;p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2" name="Google Shape;672;p5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3" name="Google Shape;673;p5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4" name="Google Shape;674;p5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5" name="Google Shape;675;p5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76" name="Google Shape;676;p51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77" name="Google Shape;677;p51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78" name="Google Shape;678;p51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679" name="Google Shape;679;p51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80" name="Google Shape;680;p51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681" name="Google Shape;68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51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84" name="Google Shape;684;p5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85" name="Google Shape;685;p51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86" name="Google Shape;686;p5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689" name="Google Shape;689;p5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0" name="Google Shape;690;p5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1" name="Google Shape;691;p5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2" name="Google Shape;692;p5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3" name="Google Shape;693;p52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94" name="Google Shape;694;p52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695" name="Google Shape;695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5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8" name="Google Shape;698;p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9" name="Google Shape;699;p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0" name="Google Shape;700;p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1" name="Google Shape;701;p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02" name="Google Shape;702;p5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3" name="Google Shape;703;p5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4" name="Google Shape;704;p5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5" name="Google Shape;705;p5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6" name="Google Shape;706;p5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7" name="Google Shape;707;p5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8" name="Google Shape;708;p5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9" name="Google Shape;709;p5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10" name="Google Shape;710;p5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11" name="Google Shape;711;p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12" name="Google Shape;712;p5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13" name="Google Shape;713;p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5" name="Google Shape;715;p5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6" name="Google Shape;716;p5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7" name="Google Shape;717;p5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5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19" name="Google Shape;719;p54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20" name="Google Shape;720;p54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21" name="Google Shape;721;p54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22" name="Google Shape;722;p54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3" name="Google Shape;723;p54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4" name="Google Shape;724;p54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5" name="Google Shape;725;p54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6" name="Google Shape;726;p54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7" name="Google Shape;727;p54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8" name="Google Shape;728;p54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9" name="Google Shape;729;p54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30" name="Google Shape;730;p54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31" name="Google Shape;731;p5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32" name="Google Shape;732;p54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33" name="Google Shape;733;p5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55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6" name="Google Shape;736;p55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737" name="Google Shape;737;p55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738" name="Google Shape;738;p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9" name="Google Shape;739;p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0" name="Google Shape;740;p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1" name="Google Shape;741;p55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2" name="Google Shape;742;p55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3" name="Google Shape;743;p55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4" name="Google Shape;744;p55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5" name="Google Shape;745;p55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6" name="Google Shape;746;p55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7" name="Google Shape;747;p55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748" name="Google Shape;748;p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0" name="Google Shape;750;p5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1" name="Google Shape;751;p5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2" name="Google Shape;752;p5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3" name="Google Shape;753;p5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4" name="Google Shape;754;p56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755" name="Google Shape;755;p56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6" name="Google Shape;756;p5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57" name="Google Shape;757;p56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58" name="Google Shape;758;p5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0" name="Google Shape;760;p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1" name="Google Shape;761;p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2" name="Google Shape;762;p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63" name="Google Shape;763;p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64" name="Google Shape;764;p57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65" name="Google Shape;765;p5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6" name="Google Shape;766;p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67" name="Google Shape;767;p5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68" name="Google Shape;768;p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58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771" name="Google Shape;771;p5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72" name="Google Shape;772;p5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3" name="Google Shape;773;p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4" name="Google Shape;774;p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75" name="Google Shape;775;p5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76" name="Google Shape;776;p5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59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779" name="Google Shape;779;p59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780" name="Google Shape;780;p59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781" name="Google Shape;781;p5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2" name="Google Shape;782;p5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83" name="Google Shape;783;p5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4" name="Google Shape;784;p5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5" name="Google Shape;785;p59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786" name="Google Shape;786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8" name="Google Shape;788;p6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9" name="Google Shape;789;p6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90" name="Google Shape;790;p6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1" name="Google Shape;791;p6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2" name="Google Shape;792;p6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3" name="Google Shape;793;p60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94" name="Google Shape;794;p60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95" name="Google Shape;795;p6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" name="Google Shape;8;p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9" name="Google Shape;9;p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99.5% Signal Compression on CPU — Self-Tuning AI Inference at $33K TCO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Cascade Compression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signal hits an LLM. That's the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/>
            </a:pPr>
          </a:p>
          <a:p>
            <a:pPr>
              <a:spcBef>
                <a:spcPts val="400"/>
              </a:spcBef>
              <a:defRPr sz="1800" b="1">
                <a:solidFill>
                  <a:srgbClr val="1A1A2E"/>
                </a:solidFill>
              </a:defRPr>
            </a:pPr>
            <a:r>
              <a:t>Enterprise AI processes millions of signals daily.</a:t>
            </a:r>
          </a:p>
          <a:p>
            <a:pPr>
              <a:spcBef>
                <a:spcPts val="400"/>
              </a:spcBef>
              <a:defRPr sz="1800" b="0">
                <a:solidFill>
                  <a:srgbClr val="1A1A2E"/>
                </a:solidFill>
              </a:defRPr>
            </a:pPr>
            <a:r>
              <a:t>The default: send everything to a model.</a:t>
            </a:r>
          </a:p>
          <a:p>
            <a:pPr>
              <a:spcBef>
                <a:spcPts val="400"/>
              </a:spcBef>
              <a:defRPr sz="1000" b="0"/>
            </a:pP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10M transactions/day at a mid-size bank</a:t>
            </a: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100K network elements at a telco</a:t>
            </a: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Continuous vitals, labs, and alerts in healthcare</a:t>
            </a:r>
          </a:p>
          <a:p>
            <a:pPr>
              <a:spcBef>
                <a:spcPts val="400"/>
              </a:spcBef>
              <a:defRPr sz="1000" b="0"/>
            </a:pPr>
          </a:p>
          <a:p>
            <a:pPr>
              <a:spcBef>
                <a:spcPts val="400"/>
              </a:spcBef>
              <a:defRPr sz="2000" b="1">
                <a:solidFill>
                  <a:srgbClr val="0071C5"/>
                </a:solidFill>
              </a:defRPr>
            </a:pPr>
            <a:r>
              <a:t>But 85-99% of those signals are routine noise.</a:t>
            </a:r>
          </a:p>
          <a:p>
            <a:pPr>
              <a:spcBef>
                <a:spcPts val="400"/>
              </a:spcBef>
              <a:defRPr sz="1600" b="1">
                <a:solidFill>
                  <a:srgbClr val="1A1A2E"/>
                </a:solidFill>
              </a:defRPr>
            </a:pPr>
            <a:r>
              <a:t>We proved it: 68.7M signals, 99.5% were handled without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Cascade Compression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tiers. Most signals never touch a model.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22C55E"/>
                </a:solidFill>
              </a:defRPr>
            </a:pPr>
            <a:r>
              <a:t>NANO TIER  (85-99%)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Deterministic agents: dedup, transient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suppression, severity gate, pattern matching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</a:defRPr>
            </a:pPr>
            <a:r>
              <a:t>Sub-millisecond. Zero inference cost.</a:t>
            </a:r>
          </a:p>
          <a:p>
            <a:pPr>
              <a:spcBef>
                <a:spcPts val="400"/>
              </a:spcBef>
              <a:defRPr sz="8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0071C5"/>
                </a:solidFill>
              </a:defRPr>
            </a:pPr>
            <a:r>
              <a:t>MICRO TIER  (1-15%)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IBM Granite 8B on Intel Xeon 6 CPU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</a:defRPr>
            </a:pPr>
            <a:r>
              <a:t>Sub-second classification. No GPU.</a:t>
            </a:r>
          </a:p>
          <a:p>
            <a:pPr>
              <a:spcBef>
                <a:spcPts val="400"/>
              </a:spcBef>
              <a:defRPr sz="8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F59E0B"/>
                </a:solidFill>
              </a:defRPr>
            </a:pPr>
            <a:r>
              <a:t>MACRO TIER  (rare)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Larger models for complex reasoning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EE0000"/>
                </a:solidFill>
              </a:defRPr>
            </a:pPr>
            <a:r>
              <a:t>SELF-TUNING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400" b="1">
                <a:solidFill>
                  <a:srgbClr val="1A1A2E"/>
                </a:solidFill>
              </a:defRPr>
            </a:pPr>
            <a:r>
              <a:t>Nobody writes rules. The cascade</a:t>
            </a:r>
          </a:p>
          <a:p>
            <a:pPr>
              <a:spcBef>
                <a:spcPts val="400"/>
              </a:spcBef>
              <a:defRPr sz="1400" b="1">
                <a:solidFill>
                  <a:srgbClr val="1A1A2E"/>
                </a:solidFill>
              </a:defRPr>
            </a:pPr>
            <a:r>
              <a:t>discovers its own agents.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68.7M K8s signals: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23 agents self-discovered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37 total, all green on rubric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96% accuracy, 0% false positive rate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400" b="1">
                <a:solidFill>
                  <a:srgbClr val="22C55E"/>
                </a:solidFill>
              </a:defRPr>
            </a:pPr>
            <a:r>
              <a:t>Compression climbed from 0% to 99.5%</a:t>
            </a:r>
          </a:p>
          <a:p>
            <a:pPr>
              <a:spcBef>
                <a:spcPts val="400"/>
              </a:spcBef>
              <a:defRPr sz="1400" b="1">
                <a:solidFill>
                  <a:srgbClr val="22C55E"/>
                </a:solidFill>
              </a:defRPr>
            </a:pPr>
            <a:r>
              <a:t>with zero human intervention.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Domain-agnostic framework. Plug in any data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/>
            </a:pP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┌─────────────┐  ┌─────────────┐  ┌─────────────┐  ┌─────────────┐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K8s         │  │  AAP         │  │  Finance     │  │  + 4 more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Collector   │  │  Collector   │  │  Collector   │  │  verticals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└──────┬───────┘  └──────┬───────┘  └──────┬───────┘  └──────┬───────┘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└────────┬────────┘────────┬────────┘────────┬────────┘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         ▼                                   ▼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        CASCADE FRAMEWORK 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                          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Stage 1: Dedup → Transient → Severity Gate      (microseconds)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Stage 2: Pattern Classifier → Threshold          (microseconds)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Stage 3: Learned Agents (self-discovered)        (microseconds)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              │           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        Survivors (0.5-15%)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              ▼           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│            Granite 8B on Xeon 6 CPU  (sub-second)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└───────────────────────────────────────────────────────────────────┘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                    │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     ┌──────────────┴──────────────┐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     │   Immutable Ledger + GCL    │  ← governance (optional)</a:t>
            </a:r>
          </a:p>
          <a:p>
            <a:pPr>
              <a:spcBef>
                <a:spcPts val="400"/>
              </a:spcBef>
              <a:defRPr sz="900" b="0">
                <a:solidFill>
                  <a:srgbClr val="1A1A2E"/>
                </a:solidFill>
              </a:defRPr>
            </a:pPr>
            <a:r>
              <a:t>              └─────────────────────────────┘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Benchmark Results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framework. Seven domains. Zero engine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</a:defRPr>
            </a:pPr>
            <a:r>
              <a:t>  Domain           Signals     Compression   Critical Survival   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</a:defRPr>
            </a:pPr>
            <a:r>
              <a:t>  Kubernetes (live)       68.7M     99.5%         0 FN                        23 activated, 37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3288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</a:defRPr>
            </a:pPr>
            <a:r>
              <a:t>  Ansible AAP (live)      1.0M+     96.0%         0 FN                        5 activated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71216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  Finance                 110K      61.1%         92.7% fraud, 100% compliance  cold 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9544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  Healthcare              100K      91.0%         96.6% critical              cold 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4787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  Insurance               100K      81.2%         100% fraud                  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  Retail                  100K      88.3%         100% shrinkage              cold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24528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  Telecom                 100K      94.3%         92.1% incidents             cold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9145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1C5"/>
                </a:solidFill>
              </a:defRPr>
            </a:pPr>
            <a:r>
              <a:t>Cold-start numbers are the floor. The cascade learns from LLM feedback and improves daily.</a:t>
            </a:r>
            <a:br/>
            <a:r>
              <a:t>Precision: 100% — all 30 sampled important signals confirmed genuinely important.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 Benchmarks (Xeon 6 CPU)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CPU inference is fast enough when 99% of signals don't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</a:defRPr>
            </a:pPr>
            <a:r>
              <a:t>  Model                        Score    Latency   Dangerous   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  granite-3-2-8b-instruct         14/20     860ms       0             racmaas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  phi4-mini (3.8B)                14/20     734ms       0             Oberon 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  granite-4.1-3b                  14/20     888ms       3             Oberon CPU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</a:defRPr>
            </a:pPr>
            <a:r>
              <a:t>  granite-2b                      13/20     677ms       1             racmaas 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1C5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1A1A2E"/>
                </a:solidFill>
              </a:defRPr>
            </a:pPr>
            <a:r>
              <a:t>100% deterministic at temp=0. Same input, same output, every time.</a:t>
            </a:r>
          </a:p>
          <a:p>
            <a:pPr>
              <a:spcBef>
                <a:spcPts val="400"/>
              </a:spcBef>
              <a:defRPr sz="1400" b="1">
                <a:solidFill>
                  <a:srgbClr val="0071C5"/>
                </a:solidFill>
              </a:defRPr>
            </a:pPr>
            <a:r>
              <a:t>Prompt tuning: K8s noise rate 0.9% → 42.4% with zero false negatives.</a:t>
            </a:r>
          </a:p>
          <a:p>
            <a:pPr>
              <a:spcBef>
                <a:spcPts val="400"/>
              </a:spcBef>
              <a:defRPr sz="1400" b="1">
                <a:solidFill>
                  <a:srgbClr val="22C55E"/>
                </a:solidFill>
              </a:defRPr>
            </a:pPr>
            <a:r>
              <a:t>Precision audit: 100% — every signal granite called important WAS important.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Total Cost of Ownership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6" name="Subtitle 5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/>
        </p:txBody>
      </p:sp>
      <p:sp>
        <p:nvSpPr>
          <p:cNvPr id="7" name="Subtitle 6"/>
          <p:cNvSpPr>
            <a:spLocks noGrp="1"/>
          </p:cNvSpPr>
          <p:nvPr>
            <p:ph type="subTitle" idx="6"/>
          </p:nvPr>
        </p:nvSpPr>
        <p:spPr/>
        <p:txBody>
          <a:bodyPr/>
          <a:lstStyle/>
          <a:p/>
        </p:txBody>
      </p:sp>
      <p:sp>
        <p:nvSpPr>
          <p:cNvPr id="8" name="Subtitle 7"/>
          <p:cNvSpPr>
            <a:spLocks noGrp="1"/>
          </p:cNvSpPr>
          <p:nvPr>
            <p:ph type="subTitle" idx="7"/>
          </p:nvPr>
        </p:nvSpPr>
        <p:spPr/>
        <p:txBody>
          <a:bodyPr/>
          <a:lstStyle/>
          <a:p/>
        </p:txBody>
      </p:sp>
      <p:sp>
        <p:nvSpPr>
          <p:cNvPr id="9" name="Subtitle 8"/>
          <p:cNvSpPr>
            <a:spLocks noGrp="1"/>
          </p:cNvSpPr>
          <p:nvPr>
            <p:ph type="subTitle" idx="8"/>
          </p:nvPr>
        </p:nvSpPr>
        <p:spPr/>
        <p:txBody>
          <a:bodyPr/>
          <a:lstStyle/>
          <a:p/>
        </p:txBody>
      </p:sp>
      <p:sp>
        <p:nvSpPr>
          <p:cNvPr id="10" name="Subtitle 9"/>
          <p:cNvSpPr>
            <a:spLocks noGrp="1"/>
          </p:cNvSpPr>
          <p:nvPr>
            <p:ph type="subTitle" idx="9"/>
          </p:nvPr>
        </p:nvSpPr>
        <p:spPr/>
        <p:txBody>
          <a:bodyPr/>
          <a:lstStyle/>
          <a:p/>
        </p:txBody>
      </p:sp>
      <p:sp>
        <p:nvSpPr>
          <p:cNvPr id="11" name="Subtitle 10"/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/>
        </p:txBody>
      </p:sp>
      <p:sp>
        <p:nvSpPr>
          <p:cNvPr id="12" name="Subtitle 11"/>
          <p:cNvSpPr>
            <a:spLocks noGrp="1"/>
          </p:cNvSpPr>
          <p:nvPr>
            <p:ph type="subTitle" idx="14"/>
          </p:nvPr>
        </p:nvSpPr>
        <p:spPr/>
        <p:txBody>
          <a:bodyPr/>
          <a:lstStyle/>
          <a:p/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 change when 99% of signals don't need inference</a:t>
            </a:r>
          </a:p>
        </p:txBody>
      </p:sp>
      <p:sp>
        <p:nvSpPr>
          <p:cNvPr id="14" name="Subtitle 1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201168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2000" b="1">
                <a:solidFill>
                  <a:srgbClr val="1A1A2E"/>
                </a:solidFill>
              </a:defRPr>
            </a:pPr>
            <a:r>
              <a:t>3-Year TCO — 10M signals/day</a:t>
            </a:r>
          </a:p>
          <a:p>
            <a:pPr>
              <a:spcBef>
                <a:spcPts val="400"/>
              </a:spcBef>
              <a:defRPr sz="8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22C55E"/>
                </a:solidFill>
              </a:defRPr>
            </a:pPr>
            <a:r>
              <a:t>  Cascade on Xeon 6          $33K         16.5 CPU, 16 GB, 1200W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  GPU inference (H100)       $266K        8 CPU, 80 GB, 6000W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  Cloud API                  $540K        $15K/month</a:t>
            </a:r>
          </a:p>
          <a:p>
            <a:pPr>
              <a:spcBef>
                <a:spcPts val="400"/>
              </a:spcBef>
              <a:defRPr sz="1200" b="0"/>
            </a:pPr>
          </a:p>
          <a:p>
            <a:pPr>
              <a:spcBef>
                <a:spcPts val="400"/>
              </a:spcBef>
              <a:defRPr sz="1800" b="1">
                <a:solidFill>
                  <a:srgbClr val="0071C5"/>
                </a:solidFill>
              </a:defRPr>
            </a:pPr>
            <a:r>
              <a:t>One Xeon 6 server at 13% utilization runs the entire system.</a:t>
            </a: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The cascade makes CPU viable because the LLM barely runs.</a:t>
            </a:r>
          </a:p>
          <a:p>
            <a:pPr>
              <a:spcBef>
                <a:spcPts val="400"/>
              </a:spcBef>
              <a:defRPr sz="1600" b="0">
                <a:solidFill>
                  <a:srgbClr val="1A1A2E"/>
                </a:solidFill>
              </a:defRPr>
            </a:pPr>
            <a:r>
              <a:t>At 99.5% compression, 10M signals → 50K LLM calls. No GPU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Collector + Prompt + Data. That's a domain pack.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1A1A2E"/>
                </a:solidFill>
              </a:defRPr>
            </a:pPr>
            <a:r>
              <a:t>Three things per domain: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500" b="1">
                <a:solidFill>
                  <a:srgbClr val="0071C5"/>
                </a:solidFill>
              </a:defRPr>
            </a:pPr>
            <a:r>
              <a:t>1. Collector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   Reads your data source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500" b="1">
                <a:solidFill>
                  <a:srgbClr val="0071C5"/>
                </a:solidFill>
              </a:defRPr>
            </a:pPr>
            <a:r>
              <a:t>2. Prompt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   One paragraph. Four buckets.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500" b="1">
                <a:solidFill>
                  <a:srgbClr val="0071C5"/>
                </a:solidFill>
              </a:defRPr>
            </a:pPr>
            <a:r>
              <a:t>3. Historical data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   Replay to bootstrap. Smart on day one.</a:t>
            </a:r>
          </a:p>
          <a:p>
            <a:pPr>
              <a:spcBef>
                <a:spcPts val="400"/>
              </a:spcBef>
              <a:defRPr sz="800" b="0"/>
            </a:pPr>
          </a:p>
          <a:p>
            <a:pPr>
              <a:spcBef>
                <a:spcPts val="400"/>
              </a:spcBef>
              <a:defRPr sz="1500" b="1">
                <a:solidFill>
                  <a:srgbClr val="EE0000"/>
                </a:solidFill>
              </a:defRPr>
            </a:pPr>
            <a:r>
              <a:t>No framework changes.</a:t>
            </a:r>
          </a:p>
          <a:p>
            <a:pPr>
              <a:spcBef>
                <a:spcPts val="400"/>
              </a:spcBef>
              <a:defRPr sz="1500" b="1">
                <a:solidFill>
                  <a:srgbClr val="EE0000"/>
                </a:solidFill>
              </a:defRPr>
            </a:pPr>
            <a:r>
              <a:t>No rules to write.</a:t>
            </a:r>
          </a:p>
          <a:p>
            <a:pPr>
              <a:spcBef>
                <a:spcPts val="400"/>
              </a:spcBef>
              <a:defRPr sz="1500" b="1">
                <a:solidFill>
                  <a:srgbClr val="EE0000"/>
                </a:solidFill>
              </a:defRPr>
            </a:pPr>
            <a:r>
              <a:t>No GPU to buy.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1400" b="1">
                <a:solidFill>
                  <a:srgbClr val="1A1A2E"/>
                </a:solidFill>
              </a:defRPr>
            </a:pPr>
            <a:r>
              <a:t>Live AAP timeline: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T+0       Zero agents. All to LLM.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T+5min    92% dominant type detected.</a:t>
            </a:r>
          </a:p>
          <a:p>
            <a:pPr>
              <a:spcBef>
                <a:spcPts val="400"/>
              </a:spcBef>
              <a:defRPr sz="1300" b="0">
                <a:solidFill>
                  <a:srgbClr val="22C55E"/>
                </a:solidFill>
              </a:defRPr>
            </a:pPr>
            <a:r>
              <a:t>T+15min   Agent promoted. Activated.</a:t>
            </a:r>
          </a:p>
          <a:p>
            <a:pPr>
              <a:spcBef>
                <a:spcPts val="400"/>
              </a:spcBef>
              <a:defRPr sz="1300" b="1">
                <a:solidFill>
                  <a:srgbClr val="22C55E"/>
                </a:solidFill>
              </a:defRPr>
            </a:pPr>
            <a:r>
              <a:t>T+60min   5 agents. 96% compression.</a:t>
            </a:r>
          </a:p>
          <a:p>
            <a:pPr>
              <a:spcBef>
                <a:spcPts val="400"/>
              </a:spcBef>
              <a:defRPr sz="800" b="0"/>
            </a:pPr>
          </a:p>
          <a:p>
            <a:pPr>
              <a:spcBef>
                <a:spcPts val="400"/>
              </a:spcBef>
              <a:defRPr sz="1400" b="1">
                <a:solidFill>
                  <a:srgbClr val="1A1A2E"/>
                </a:solidFill>
              </a:defRPr>
            </a:pPr>
            <a:r>
              <a:t>Live K8s over 24 hours:</a:t>
            </a:r>
          </a:p>
          <a:p>
            <a:pPr>
              <a:spcBef>
                <a:spcPts val="400"/>
              </a:spcBef>
              <a:defRPr sz="400" b="0"/>
            </a:pP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68.7M signals processed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23 agents self-discovered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37 total, all green on rubric</a:t>
            </a:r>
          </a:p>
          <a:p>
            <a:pPr>
              <a:spcBef>
                <a:spcPts val="400"/>
              </a:spcBef>
              <a:defRPr sz="1300" b="1">
                <a:solidFill>
                  <a:srgbClr val="22C55E"/>
                </a:solidFill>
              </a:defRPr>
            </a:pPr>
            <a:r>
              <a:t>99.5% compression</a:t>
            </a:r>
          </a:p>
          <a:p>
            <a:pPr>
              <a:spcBef>
                <a:spcPts val="400"/>
              </a:spcBef>
              <a:defRPr sz="1300" b="1">
                <a:solidFill>
                  <a:srgbClr val="22C55E"/>
                </a:solidFill>
              </a:defRPr>
            </a:pPr>
            <a:r>
              <a:t>0 false negatives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(Regulated Industries)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systems. Nobody grades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2000" b="1">
                <a:solidFill>
                  <a:srgbClr val="1A1A2E"/>
                </a:solidFill>
              </a:defRPr>
            </a:pPr>
            <a:r>
              <a:t>Cascade decides  →  Ledger records  →  GCL audits</a:t>
            </a:r>
          </a:p>
          <a:p>
            <a:pPr>
              <a:spcBef>
                <a:spcPts val="400"/>
              </a:spcBef>
              <a:defRPr sz="10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0071C5"/>
                </a:solidFill>
              </a:defRPr>
            </a:pPr>
            <a:r>
              <a:t>Immutable Ledger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Every decision hash-chained. Append-only. No UPDATE, no DELETE.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EE0000"/>
                </a:solidFill>
              </a:defRPr>
            </a:pPr>
            <a:r>
              <a:t>Governed Cognitive Loop (GCL)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Independent system samples drops. Falsifies with its own LLM.</a:t>
            </a:r>
          </a:p>
          <a:p>
            <a:pPr>
              <a:spcBef>
                <a:spcPts val="400"/>
              </a:spcBef>
              <a:defRPr sz="600" b="0"/>
            </a:pPr>
          </a:p>
          <a:p>
            <a:pPr>
              <a:spcBef>
                <a:spcPts val="400"/>
              </a:spcBef>
              <a:defRPr sz="1400" b="0">
                <a:solidFill>
                  <a:srgbClr val="6B7280"/>
                </a:solidFill>
              </a:defRPr>
            </a:pPr>
            <a:r>
              <a:t>Overhead: +3.5 CPU, +2.8 GB (27% for full auditability)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Get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this deck to production on your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/>
            </a:pPr>
          </a:p>
          <a:p>
            <a:pPr>
              <a:spcBef>
                <a:spcPts val="400"/>
              </a:spcBef>
              <a:defRPr sz="1800" b="1">
                <a:solidFill>
                  <a:srgbClr val="1A1A2E"/>
                </a:solidFill>
              </a:defRPr>
            </a:pPr>
            <a:r>
              <a:t>pip install cascade-compression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</a:defRPr>
            </a:pPr>
            <a:r>
              <a:t>cascade-run --domain finance --llm-url https://your-llm/v1</a:t>
            </a:r>
          </a:p>
          <a:p>
            <a:pPr>
              <a:spcBef>
                <a:spcPts val="400"/>
              </a:spcBef>
              <a:defRPr sz="12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0071C5"/>
                </a:solidFill>
              </a:defRPr>
            </a:pPr>
            <a:r>
              <a:t>What you need: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Intel Xeon 6 server ($30K) + IBM Granite 8B via llama.cpp (no GPU)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Your data source + a one-paragraph prompt</a:t>
            </a:r>
          </a:p>
          <a:p>
            <a:pPr>
              <a:spcBef>
                <a:spcPts val="400"/>
              </a:spcBef>
              <a:defRPr sz="1000" b="0"/>
            </a:pPr>
          </a:p>
          <a:p>
            <a:pPr>
              <a:spcBef>
                <a:spcPts val="400"/>
              </a:spcBef>
              <a:defRPr sz="1600" b="1">
                <a:solidFill>
                  <a:srgbClr val="22C55E"/>
                </a:solidFill>
              </a:defRPr>
            </a:pPr>
            <a:r>
              <a:t>What you get: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99.5% compression proven on 68.7M live signals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0 dangerous misses across 7 domains, 6 models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100% precision on independent audit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</a:defRPr>
            </a:pPr>
            <a:r>
              <a:t>  $33K 3-year TCO vs $540K cloud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Schedule a demo. Bring your data. See the compression in real time.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Cascade Compression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