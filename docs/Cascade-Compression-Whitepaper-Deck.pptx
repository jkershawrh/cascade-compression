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70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y="6858000" cx="12192000"/>
  <p:notesSz cx="6858000" cy="9144000"/>
  <p:embeddedFontLst>
    <p:embeddedFont>
      <p:font typeface="Red Hat Text Medium"/>
      <p:regular r:id="rId19"/>
      <p:bold r:id="rId20"/>
      <p:italic r:id="rId21"/>
      <p:boldItalic r:id="rId22"/>
    </p:embeddedFont>
    <p:embeddedFont>
      <p:font typeface="Red Hat Display Medium"/>
      <p:regular r:id="rId23"/>
      <p:bold r:id="rId24"/>
      <p:italic r:id="rId25"/>
      <p:boldItalic r:id="rId26"/>
    </p:embeddedFont>
    <p:embeddedFont>
      <p:font typeface="Red Hat Display"/>
      <p:regular r:id="rId27"/>
      <p:bold r:id="rId28"/>
      <p:italic r:id="rId29"/>
      <p:boldItalic r:id="rId30"/>
    </p:embeddedFont>
    <p:embeddedFont>
      <p:font typeface="Red Hat Text"/>
      <p:regular r:id="rId31"/>
      <p:bold r:id="rId32"/>
      <p:italic r:id="rId33"/>
      <p:boldItalic r:id="rId34"/>
    </p:embeddedFont>
    <p:embeddedFont>
      <p:font typeface="Red Hat Display ExtraBold"/>
      <p:bold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58">
          <p15:clr>
            <a:srgbClr val="9AA0A6"/>
          </p15:clr>
        </p15:guide>
      </p15:sldGuideLst>
    </p:ext>
    <p:ext uri="GoogleSlidesCustomDataVersion2">
      <go:slidesCustomData xmlns:go="http://customooxmlschemas.google.com/" r:id="rId37" roundtripDataSignature="AMtx7milBKMf3C0dfvPuhIr4RHpHwHvg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7563CD-1CAD-44AA-9361-4EABF1BC4C98}">
  <a:tblStyle styleId="{657563CD-1CAD-44AA-9361-4EABF1BC4C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5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font" Target="fonts/RedHatTextMedium-regular.fntdata"/><Relationship Id="rId20" Type="http://schemas.openxmlformats.org/officeDocument/2006/relationships/font" Target="fonts/RedHatTextMedium-bold.fntdata"/><Relationship Id="rId21" Type="http://schemas.openxmlformats.org/officeDocument/2006/relationships/font" Target="fonts/RedHatTextMedium-italic.fntdata"/><Relationship Id="rId22" Type="http://schemas.openxmlformats.org/officeDocument/2006/relationships/font" Target="fonts/RedHatTextMedium-boldItalic.fntdata"/><Relationship Id="rId23" Type="http://schemas.openxmlformats.org/officeDocument/2006/relationships/font" Target="fonts/RedHatDisplayMedium-regular.fntdata"/><Relationship Id="rId24" Type="http://schemas.openxmlformats.org/officeDocument/2006/relationships/font" Target="fonts/RedHatDisplayMedium-bold.fntdata"/><Relationship Id="rId25" Type="http://schemas.openxmlformats.org/officeDocument/2006/relationships/font" Target="fonts/RedHatDisplayMedium-italic.fntdata"/><Relationship Id="rId26" Type="http://schemas.openxmlformats.org/officeDocument/2006/relationships/font" Target="fonts/RedHatDisplayMedium-boldItalic.fntdata"/><Relationship Id="rId27" Type="http://schemas.openxmlformats.org/officeDocument/2006/relationships/font" Target="fonts/RedHatDisplay-regular.fntdata"/><Relationship Id="rId28" Type="http://schemas.openxmlformats.org/officeDocument/2006/relationships/font" Target="fonts/RedHatDisplay-bold.fntdata"/><Relationship Id="rId29" Type="http://schemas.openxmlformats.org/officeDocument/2006/relationships/font" Target="fonts/RedHatDisplay-italic.fntdata"/><Relationship Id="rId30" Type="http://schemas.openxmlformats.org/officeDocument/2006/relationships/font" Target="fonts/RedHatDisplay-boldItalic.fntdata"/><Relationship Id="rId31" Type="http://schemas.openxmlformats.org/officeDocument/2006/relationships/font" Target="fonts/RedHatText-regular.fntdata"/><Relationship Id="rId32" Type="http://schemas.openxmlformats.org/officeDocument/2006/relationships/font" Target="fonts/RedHatText-bold.fntdata"/><Relationship Id="rId33" Type="http://schemas.openxmlformats.org/officeDocument/2006/relationships/font" Target="fonts/RedHatText-italic.fntdata"/><Relationship Id="rId34" Type="http://schemas.openxmlformats.org/officeDocument/2006/relationships/font" Target="fonts/RedHatText-boldItalic.fntdata"/><Relationship Id="rId35" Type="http://schemas.openxmlformats.org/officeDocument/2006/relationships/font" Target="fonts/RedHatDisplayExtraBold-bold.fntdata"/><Relationship Id="rId36" Type="http://schemas.openxmlformats.org/officeDocument/2006/relationships/font" Target="fonts/RedHatDisplayExtraBold-boldItalic.fntdata"/><Relationship Id="rId3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8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0" name="Google Shape;1630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7" name="Shape 1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Google Shape;163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9" name="Google Shape;163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8" name="Shape 1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Google Shape;164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0" name="Google Shape;1650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8" name="Shape 1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Google Shape;166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0" name="Google Shape;167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6" name="Shape 1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Google Shape;16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8" name="Google Shape;1698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5" name="Shape 1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6" name="Google Shape;1706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07" name="Google Shape;1707;p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8" name="Shape 1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Google Shape;1729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0" name="Google Shape;1730;p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3" name="Google Shape;1743;p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6" name="Shape 1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Google Shape;17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58" name="Google Shape;175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7" name="Shape 1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Google Shape;177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9" name="Google Shape;1779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7" name="Shape 1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8" name="Google Shape;1798;g3f699196abe_36_130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9" name="Google Shape;1799;g3f699196abe_36_130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7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5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5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g3f699196abe_36_1311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2" name="Google Shape;12;g3f699196abe_36_1311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g3f699196abe_36_13116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g3f699196abe_36_13116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g3f699196abe_36_13116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" name="Google Shape;16;g3f699196abe_36_13116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7" name="Google Shape;17;g3f699196abe_36_131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g3f699196abe_36_131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" name="Google Shape;19;g3f699196abe_36_13116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g3f699196abe_36_1311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g3f699196abe_36_1312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g3f699196abe_36_1312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4" name="Google Shape;24;g3f699196abe_36_131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g3f699196abe_36_131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g3f699196abe_36_1312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" name="Google Shape;27;g3f699196abe_36_13127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8" name="Google Shape;28;g3f699196abe_36_13127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9" name="Google Shape;29;g3f699196abe_36_13127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0" name="Google Shape;30;g3f699196abe_36_1312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Google Shape;32;g3f699196abe_36_131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" name="Google Shape;33;g3f699196abe_36_131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g3f699196abe_36_131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g3f699196abe_36_1313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g3f699196abe_36_13137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7" name="Google Shape;37;g3f699196abe_36_13137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8" name="Google Shape;38;g3f699196abe_36_13137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" name="Google Shape;39;g3f699196abe_36_131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0" name="Google Shape;40;g3f699196abe_36_13137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1" name="Google Shape;41;g3f699196abe_36_131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 1">
  <p:cSld name="Interior agenda light (g3f699196abe_44_0)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f699196abe_36_1476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44" name="Google Shape;44;g3f699196abe_36_1476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" name="Google Shape;45;g3f699196abe_36_1476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6" name="Google Shape;46;g3f699196abe_36_1476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47" name="Google Shape;47;g3f699196abe_36_1476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48" name="Google Shape;48;g3f699196abe_36_1476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 1">
  <p:cSld name="Interior data three callouts (g3f699196abe_51_0)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f699196abe_36_147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1" name="Google Shape;51;g3f699196abe_36_147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g3f699196abe_36_147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3" name="Google Shape;53;g3f699196abe_36_147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g3f699196abe_36_147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5" name="Google Shape;55;g3f699196abe_36_147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6" name="Google Shape;56;g3f699196abe_36_147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7" name="Google Shape;57;g3f699196abe_36_147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8" name="Google Shape;58;g3f699196abe_36_147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9" name="Google Shape;59;g3f699196abe_36_147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0" name="Google Shape;60;g3f699196abe_36_147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1" name="Google Shape;61;g3f699196abe_36_147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2" name="Google Shape;62;g3f699196abe_36_147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3" name="Google Shape;63;g3f699196abe_36_147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">
  <p:cSld name="Interior agenda light (g3f699196abe_66_0)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699196abe_36_147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66" name="Google Shape;66;g3f699196abe_36_147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g3f699196abe_36_147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8" name="Google Shape;68;g3f699196abe_36_14741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69" name="Google Shape;69;g3f699196abe_36_14741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0" name="Google Shape;70;g3f699196abe_36_14741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">
  <p:cSld name="Interior agenda light (g3f699196abe_73_0)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699196abe_36_147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73" name="Google Shape;73;g3f699196abe_36_147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" name="Google Shape;74;g3f699196abe_36_1473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" name="Google Shape;75;g3f699196abe_36_14734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6" name="Google Shape;76;g3f699196abe_36_14734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7" name="Google Shape;77;g3f699196abe_36_14734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losing slide with Image (g3f699196abe_80_0)">
    <p:bg>
      <p:bgPr>
        <a:solidFill>
          <a:schemeClr val="lt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699196abe_36_13902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80" name="Google Shape;80;g3f699196abe_36_1390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g3f699196abe_36_13902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2" name="Google Shape;82;g3f699196abe_36_13902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99196abe_36_131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5" name="Google Shape;85;g3f699196abe_36_131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6" name="Google Shape;86;g3f699196abe_36_131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7" name="Google Shape;87;g3f699196abe_36_131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8" name="Google Shape;88;g3f699196abe_36_131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g3f699196abe_36_131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" name="Google Shape;90;g3f699196abe_36_131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91" name="Google Shape;91;g3f699196abe_36_1314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92" name="Google Shape;92;g3f699196abe_36_1314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93" name="Google Shape;93;g3f699196abe_36_131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" name="Google Shape;94;g3f699196abe_36_131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5" name="Google Shape;95;g3f699196abe_36_131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6" name="Google Shape;96;g3f699196abe_36_131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7" name="Google Shape;97;g3f699196abe_36_131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8" name="Google Shape;98;g3f699196abe_36_131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9" name="Google Shape;99;g3f699196abe_36_131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0" name="Google Shape;100;g3f699196abe_36_131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01" name="Google Shape;101;g3f699196abe_36_131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02" name="Google Shape;102;g3f699196abe_36_131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99196abe_36_13168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5" name="Google Shape;105;g3f699196abe_36_1316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" name="Google Shape;106;g3f699196abe_36_13168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7" name="Google Shape;107;g3f699196abe_36_13168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f699196abe_36_1316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g3f699196abe_36_13168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f699196abe_36_13168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1" name="Google Shape;111;g3f699196abe_36_13168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" name="Google Shape;112;g3f699196abe_36_13168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3" name="Google Shape;113;g3f699196abe_36_13168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4" name="Google Shape;114;g3f699196abe_36_13168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115" name="Google Shape;115;g3f699196abe_36_13168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116" name="Google Shape;116;g3f699196abe_36_131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g3f699196abe_36_131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g3f699196abe_36_131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f699196abe_36_1316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g3f699196abe_36_13168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2" name="Google Shape;122;g3f699196abe_36_1318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3" name="Google Shape;123;g3f699196abe_36_131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g3f699196abe_36_131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" name="Google Shape;125;g3f699196abe_36_1318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6" name="Google Shape;126;g3f699196abe_36_13186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27" name="Google Shape;127;g3f699196abe_36_13186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8" name="Google Shape;128;g3f699196abe_36_13186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9" name="Google Shape;129;g3f699196abe_36_13186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0" name="Google Shape;130;g3f699196abe_36_13186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1" name="Google Shape;131;g3f699196abe_36_13186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2" name="Google Shape;132;g3f699196abe_36_13186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3" name="Google Shape;133;g3f699196abe_36_13186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4" name="Google Shape;134;g3f699196abe_36_13186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5" name="Google Shape;135;g3f699196abe_36_1318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36" name="Google Shape;136;g3f699196abe_36_13186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37" name="Google Shape;137;g3f699196abe_36_1318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699196abe_36_1320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0" name="Google Shape;140;g3f699196abe_36_132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141" name="Google Shape;141;g3f699196abe_36_132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g3f699196abe_36_132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g3f699196abe_36_132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4" name="Google Shape;144;g3f699196abe_36_13203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g3f699196abe_36_13203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6" name="Google Shape;146;g3f699196abe_36_13203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47" name="Google Shape;147;g3f699196abe_36_132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g3f699196abe_36_132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g3f699196abe_36_132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g3f699196abe_36_132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g3f699196abe_36_132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" name="Google Shape;153;g3f699196abe_36_13213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54" name="Google Shape;154;g3f699196abe_36_1321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" name="Google Shape;155;g3f699196abe_36_132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6" name="Google Shape;156;g3f699196abe_36_13213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7" name="Google Shape;157;g3f699196abe_36_132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699196abe_36_13223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f699196abe_36_132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1" name="Google Shape;161;g3f699196abe_36_132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2" name="Google Shape;162;g3f699196abe_36_132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3" name="Google Shape;163;g3f699196abe_36_132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64" name="Google Shape;164;g3f699196abe_36_132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g3f699196abe_36_132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6" name="Google Shape;166;g3f699196abe_36_132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699196abe_36_13232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g3f699196abe_36_13232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0" name="Google Shape;170;g3f699196abe_36_13232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71" name="Google Shape;171;g3f699196abe_36_132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f699196abe_36_132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f699196abe_36_132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g3f699196abe_36_132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f699196abe_36_13232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6" name="Google Shape;176;g3f699196abe_36_13232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7" name="Google Shape;177;g3f699196abe_36_13232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8" name="Google Shape;178;g3f699196abe_36_13232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79" name="Google Shape;179;g3f699196abe_36_13232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g3f699196abe_36_132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g3f699196abe_36_132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82" name="Google Shape;182;g3f699196abe_36_132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699196abe_36_1324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5" name="Google Shape;185;g3f699196abe_36_1324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g3f699196abe_36_1324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7" name="Google Shape;187;g3f699196abe_36_1324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8" name="Google Shape;188;g3f699196abe_36_1324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89" name="Google Shape;189;g3f699196abe_36_1324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90" name="Google Shape;190;g3f699196abe_36_132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g3f699196abe_36_132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2" name="Google Shape;192;g3f699196abe_36_132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699196abe_36_1325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95" name="Google Shape;195;g3f699196abe_36_1325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f699196abe_36_1325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7" name="Google Shape;197;g3f699196abe_36_1325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g3f699196abe_36_1325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99" name="Google Shape;199;g3f699196abe_36_1325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00" name="Google Shape;200;g3f699196abe_36_132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g3f699196abe_36_132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2" name="Google Shape;202;g3f699196abe_36_13258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f699196abe_36_1325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699196abe_36_13269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06" name="Google Shape;206;g3f699196abe_36_13269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g3f699196abe_36_13269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208" name="Google Shape;208;g3f699196abe_36_13269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9" name="Google Shape;209;g3f699196abe_36_13269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0" name="Google Shape;210;g3f699196abe_36_13269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1" name="Google Shape;211;g3f699196abe_36_13269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2" name="Google Shape;212;g3f699196abe_36_13269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13" name="Google Shape;213;g3f699196abe_36_13269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4" name="Google Shape;214;g3f699196abe_36_1326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g3f699196abe_36_1326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6" name="Google Shape;216;g3f699196abe_36_132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f699196abe_36_132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g3f699196abe_36_132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g3f699196abe_36_1326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g3f699196abe_36_13269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699196abe_36_1328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3" name="Google Shape;223;g3f699196abe_36_1328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f699196abe_36_13286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225" name="Google Shape;225;g3f699196abe_36_13286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g3f699196abe_36_13286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7" name="Google Shape;227;g3f699196abe_36_13286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8" name="Google Shape;228;g3f699196abe_36_13286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9" name="Google Shape;229;g3f699196abe_36_13286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30" name="Google Shape;230;g3f699196abe_36_1328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1" name="Google Shape;231;g3f699196abe_36_132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g3f699196abe_36_132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3" name="Google Shape;233;g3f699196abe_36_132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g3f699196abe_36_132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g3f699196abe_36_132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f699196abe_36_132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f699196abe_36_13286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699196abe_36_13303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0" name="Google Shape;240;g3f699196abe_36_13303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1" name="Google Shape;241;g3f699196abe_36_133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" name="Google Shape;242;g3f699196abe_36_133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3" name="Google Shape;243;g3f699196abe_36_133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3f699196abe_36_133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3f699196abe_36_13309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7" name="Google Shape;247;g3f699196abe_36_13309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8" name="Google Shape;248;g3f699196abe_36_13309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9" name="Google Shape;249;g3f699196abe_36_13309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50" name="Google Shape;250;g3f699196abe_36_1330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1" name="Google Shape;251;g3f699196abe_36_1330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2" name="Google Shape;252;g3f699196abe_36_1330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699196abe_36_1331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55" name="Google Shape;255;g3f699196abe_36_133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6" name="Google Shape;256;g3f699196abe_36_133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g3f699196abe_36_1331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58" name="Google Shape;258;g3f699196abe_36_1331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259" name="Google Shape;259;g3f699196abe_36_133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0" name="Google Shape;260;g3f699196abe_36_1331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699196abe_36_13326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63" name="Google Shape;263;g3f699196abe_36_133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4" name="Google Shape;264;g3f699196abe_36_1332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g3f699196abe_36_1332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66" name="Google Shape;266;g3f699196abe_36_13326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7" name="Google Shape;267;g3f699196abe_36_133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8" name="Google Shape;268;g3f699196abe_36_1332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270;g3f699196abe_36_133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1" name="Google Shape;271;g3f699196abe_36_1333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" name="Google Shape;272;g3f699196abe_36_133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73" name="Google Shape;273;g3f699196abe_36_133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4" name="Google Shape;274;g3f699196abe_36_13334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275" name="Google Shape;275;g3f699196abe_36_133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699196abe_36_1334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78" name="Google Shape;278;g3f699196abe_36_133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9" name="Google Shape;279;g3f699196abe_36_133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0" name="Google Shape;280;g3f699196abe_36_133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81" name="Google Shape;281;g3f699196abe_36_1334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282" name="Google Shape;282;g3f699196abe_36_1334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3" name="Google Shape;283;g3f699196abe_36_133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4" name="Google Shape;284;g3f699196abe_36_1334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699196abe_36_13350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287" name="Google Shape;287;g3f699196abe_36_133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8" name="Google Shape;288;g3f699196abe_36_133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g3f699196abe_36_1335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90" name="Google Shape;290;g3f699196abe_36_133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1" name="Google Shape;291;g3f699196abe_36_133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f699196abe_36_13357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94" name="Google Shape;294;g3f699196abe_36_13357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295" name="Google Shape;295;g3f699196abe_36_133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6" name="Google Shape;296;g3f699196abe_36_13357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97" name="Google Shape;297;g3f699196abe_36_13357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8" name="Google Shape;298;g3f699196abe_36_133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9" name="Google Shape;299;g3f699196abe_36_133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699196abe_36_13365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302" name="Google Shape;302;g3f699196abe_36_133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g3f699196abe_36_1336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304" name="Google Shape;304;g3f699196abe_36_13365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f699196abe_36_133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g3f699196abe_36_13365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7" name="Google Shape;307;g3f699196abe_36_13365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08" name="Google Shape;308;g3f699196abe_36_13365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9" name="Google Shape;309;g3f699196abe_36_13365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0" name="Google Shape;310;g3f699196abe_36_13365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699196abe_36_13376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13" name="Google Shape;313;g3f699196abe_36_1337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14" name="Google Shape;314;g3f699196abe_36_13376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15" name="Google Shape;315;g3f699196abe_36_1337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6" name="Google Shape;316;g3f699196abe_36_1337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7" name="Google Shape;317;g3f699196abe_36_1337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8" name="Google Shape;318;g3f699196abe_36_1337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f699196abe_36_13384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21" name="Google Shape;321;g3f699196abe_36_1338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2" name="Google Shape;322;g3f699196abe_36_13384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3" name="Google Shape;323;g3f699196abe_36_1338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4" name="Google Shape;324;g3f699196abe_36_1338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325" name="Google Shape;325;g3f699196abe_36_1338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26" name="Google Shape;326;g3f699196abe_36_1338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699196abe_36_1339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29" name="Google Shape;329;g3f699196abe_36_1339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0" name="Google Shape;330;g3f699196abe_36_1339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" name="Google Shape;331;g3f699196abe_36_1339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2" name="Google Shape;332;g3f699196abe_36_1339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3" name="Google Shape;333;g3f699196abe_36_1339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34" name="Google Shape;334;g3f699196abe_36_13392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35" name="Google Shape;335;g3f699196abe_36_1339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f699196abe_36_1340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38" name="Google Shape;338;g3f699196abe_36_1340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9" name="Google Shape;339;g3f699196abe_36_1340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0" name="Google Shape;340;g3f699196abe_36_1340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g3f699196abe_36_1340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2" name="Google Shape;342;g3f699196abe_36_13401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g3f699196abe_36_13401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g3f699196abe_36_13401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g3f699196abe_36_13401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g3f699196abe_36_13401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g3f699196abe_36_13401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48" name="Google Shape;348;g3f699196abe_36_13401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49" name="Google Shape;349;g3f699196abe_36_13401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50" name="Google Shape;350;g3f699196abe_36_1340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51" name="Google Shape;351;g3f699196abe_36_13401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52" name="Google Shape;352;g3f699196abe_36_1340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" name="Google Shape;354;g3f699196abe_36_134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5" name="Google Shape;355;g3f699196abe_36_134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" name="Google Shape;356;g3f699196abe_36_134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7" name="Google Shape;357;g3f699196abe_36_1341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8" name="Google Shape;358;g3f699196abe_36_1341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g3f699196abe_36_1341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g3f699196abe_36_13418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g3f699196abe_36_13418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g3f699196abe_36_13418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63" name="Google Shape;363;g3f699196abe_36_13418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64" name="Google Shape;364;g3f699196abe_36_134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65" name="Google Shape;365;g3f699196abe_36_13418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66" name="Google Shape;366;g3f699196abe_36_13418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367" name="Google Shape;367;g3f699196abe_36_134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9" name="Google Shape;369;g3f699196abe_36_1343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0" name="Google Shape;370;g3f699196abe_36_134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1" name="Google Shape;371;g3f699196abe_36_134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g3f699196abe_36_1343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73" name="Google Shape;373;g3f699196abe_36_134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g3f699196abe_36_13433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5" name="Google Shape;375;g3f699196abe_36_13433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6" name="Google Shape;376;g3f699196abe_36_13433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7" name="Google Shape;377;g3f699196abe_36_13433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78" name="Google Shape;378;g3f699196abe_36_1343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79" name="Google Shape;379;g3f699196abe_36_13433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80" name="Google Shape;380;g3f699196abe_36_1343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699196abe_36_1344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83" name="Google Shape;383;g3f699196abe_36_134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4" name="Google Shape;384;g3f699196abe_36_134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5" name="Google Shape;385;g3f699196abe_36_134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6" name="Google Shape;386;g3f699196abe_36_13446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87" name="Google Shape;387;g3f699196abe_36_134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9" name="Google Shape;389;g3f699196abe_36_134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0" name="Google Shape;390;g3f699196abe_36_134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" name="Google Shape;391;g3f699196abe_36_134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2" name="Google Shape;392;g3f699196abe_36_134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93" name="Google Shape;393;g3f699196abe_36_13453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4" name="Google Shape;394;g3f699196abe_36_134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95" name="Google Shape;395;g3f699196abe_36_13453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96" name="Google Shape;396;g3f699196abe_36_134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f699196abe_36_1346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99" name="Google Shape;399;g3f699196abe_36_1346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0" name="Google Shape;400;g3f699196abe_36_1346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1" name="Google Shape;401;g3f699196abe_36_1346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2" name="Google Shape;402;g3f699196abe_36_1346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3" name="Google Shape;403;g3f699196abe_36_13462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404" name="Google Shape;404;g3f699196abe_36_1346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699196abe_36_1347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407" name="Google Shape;407;g3f699196abe_36_1347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8" name="Google Shape;408;g3f699196abe_36_1347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9" name="Google Shape;409;g3f699196abe_36_1347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0" name="Google Shape;410;g3f699196abe_36_1347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11" name="Google Shape;411;g3f699196abe_36_13470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2" name="Google Shape;412;g3f699196abe_36_13470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3" name="Google Shape;413;g3f699196abe_36_13470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4" name="Google Shape;414;g3f699196abe_36_13470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415" name="Google Shape;415;g3f699196abe_36_1347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7" name="Google Shape;417;g3f699196abe_36_1348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8" name="Google Shape;418;g3f699196abe_36_1348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g3f699196abe_36_1348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0" name="Google Shape;420;g3f699196abe_36_1348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1" name="Google Shape;421;g3f699196abe_36_13481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2" name="Google Shape;422;g3f699196abe_36_13481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23" name="Google Shape;423;g3f699196abe_36_13481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24" name="Google Shape;424;g3f699196abe_36_13481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25" name="Google Shape;425;g3f699196abe_36_13481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6" name="Google Shape;426;g3f699196abe_36_13481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27" name="Google Shape;427;g3f699196abe_36_13481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8" name="Google Shape;428;g3f699196abe_36_1348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29" name="Google Shape;429;g3f699196abe_36_13481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30" name="Google Shape;430;g3f699196abe_36_1348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f699196abe_36_1349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33" name="Google Shape;433;g3f699196abe_36_1349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434" name="Google Shape;434;g3f699196abe_36_1349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35" name="Google Shape;435;g3f699196abe_36_1349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6" name="Google Shape;436;g3f699196abe_36_1349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g3f699196abe_36_1349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8" name="Google Shape;438;g3f699196abe_36_1349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439" name="Google Shape;439;g3f699196abe_36_1349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40" name="Google Shape;440;g3f699196abe_36_1349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1" name="Google Shape;441;g3f699196abe_36_1349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42" name="Google Shape;442;g3f699196abe_36_1349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3" name="Google Shape;443;g3f699196abe_36_1349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44" name="Google Shape;444;g3f699196abe_36_1349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5" name="Google Shape;445;g3f699196abe_36_1349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46" name="Google Shape;446;g3f699196abe_36_1349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47" name="Google Shape;447;g3f699196abe_36_1349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9" name="Google Shape;449;g3f699196abe_36_135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0" name="Google Shape;450;g3f699196abe_36_135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g3f699196abe_36_135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g3f699196abe_36_135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53" name="Google Shape;453;g3f699196abe_36_13513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54" name="Google Shape;454;g3f699196abe_36_13513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55" name="Google Shape;455;g3f699196abe_36_13513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56" name="Google Shape;456;g3f699196abe_36_13513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57" name="Google Shape;457;g3f699196abe_36_13513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58" name="Google Shape;458;g3f699196abe_36_13513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59" name="Google Shape;459;g3f699196abe_36_13513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60" name="Google Shape;460;g3f699196abe_36_135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61" name="Google Shape;461;g3f699196abe_36_13513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62" name="Google Shape;462;g3f699196abe_36_135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Google Shape;464;g3f699196abe_36_135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5" name="Google Shape;465;g3f699196abe_36_135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6" name="Google Shape;466;g3f699196abe_36_135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7" name="Google Shape;467;g3f699196abe_36_1352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68" name="Google Shape;468;g3f699196abe_36_1352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69" name="Google Shape;469;g3f699196abe_36_1352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0" name="Google Shape;470;g3f699196abe_36_1352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1" name="Google Shape;471;g3f699196abe_36_1352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2" name="Google Shape;472;g3f699196abe_36_1352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3" name="Google Shape;473;g3f699196abe_36_1352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4" name="Google Shape;474;g3f699196abe_36_1352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5" name="Google Shape;475;g3f699196abe_36_1352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76" name="Google Shape;476;g3f699196abe_36_1352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77" name="Google Shape;477;g3f699196abe_36_1352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78" name="Google Shape;478;g3f699196abe_36_1352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0" name="Google Shape;480;g3f699196abe_36_135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1" name="Google Shape;481;g3f699196abe_36_135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2" name="Google Shape;482;g3f699196abe_36_135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3" name="Google Shape;483;g3f699196abe_36_1354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84" name="Google Shape;484;g3f699196abe_36_13544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85" name="Google Shape;485;g3f699196abe_36_13544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86" name="Google Shape;486;g3f699196abe_36_13544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87" name="Google Shape;487;g3f699196abe_36_13544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88" name="Google Shape;488;g3f699196abe_36_13544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g3f699196abe_36_13544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f699196abe_36_13544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g3f699196abe_36_13544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g3f699196abe_36_13544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g3f699196abe_36_13544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g3f699196abe_36_13544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3f699196abe_36_13544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g3f699196abe_36_13544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g3f699196abe_36_13544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g3f699196abe_36_13544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g3f699196abe_36_13544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g3f699196abe_36_13544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g3f699196abe_36_13544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g3f699196abe_36_13544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g3f699196abe_36_13544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g3f699196abe_36_13544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g3f699196abe_36_13544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g3f699196abe_36_13544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g3f699196abe_36_13544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g3f699196abe_36_13544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g3f699196abe_36_13544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g3f699196abe_36_13544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g3f699196abe_36_13544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g3f699196abe_36_13544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g3f699196abe_36_13544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g3f699196abe_36_13544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g3f699196abe_36_13544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g3f699196abe_36_13544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g3f699196abe_36_13544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3f699196abe_36_13544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3f699196abe_36_13544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g3f699196abe_36_13544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g3f699196abe_36_13544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g3f699196abe_36_13544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g3f699196abe_36_13544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g3f699196abe_36_13544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g3f699196abe_36_13544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g3f699196abe_36_13544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g3f699196abe_36_13544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g3f699196abe_36_13544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g3f699196abe_36_13544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g3f699196abe_36_13544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g3f699196abe_36_13544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g3f699196abe_36_13544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g3f699196abe_36_13544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g3f699196abe_36_13544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g3f699196abe_36_13544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g3f699196abe_36_13544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g3f699196abe_36_13544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g3f699196abe_36_13544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g3f699196abe_36_13544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g3f699196abe_36_13544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g3f699196abe_36_13544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g3f699196abe_36_13544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f699196abe_36_13544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g3f699196abe_36_13544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g3f699196abe_36_13544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g3f699196abe_36_13544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g3f699196abe_36_13544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f699196abe_36_13544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g3f699196abe_36_13544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g3f699196abe_36_13544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g3f699196abe_36_13544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g3f699196abe_36_13544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g3f699196abe_36_13544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g3f699196abe_36_13544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g3f699196abe_36_13544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g3f699196abe_36_13544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f699196abe_36_13544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g3f699196abe_36_13544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g3f699196abe_36_13544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g3f699196abe_36_13544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699196abe_36_13544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f699196abe_36_13544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699196abe_36_13544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g3f699196abe_36_13544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g3f699196abe_36_13544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699196abe_36_13544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699196abe_36_13544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g3f699196abe_36_13544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g3f699196abe_36_13544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g3f699196abe_36_13544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g3f699196abe_36_13544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699196abe_36_13544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699196abe_36_13544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g3f699196abe_36_13544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g3f699196abe_36_13544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699196abe_36_13544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g3f699196abe_36_13544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g3f699196abe_36_13544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f699196abe_36_13544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f699196abe_36_13544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f699196abe_36_13544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f699196abe_36_13544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f699196abe_36_13544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f699196abe_36_13544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f699196abe_36_13544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g3f699196abe_36_13544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g3f699196abe_36_13544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g3f699196abe_36_13544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g3f699196abe_36_13544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g3f699196abe_36_13544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g3f699196abe_36_13544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g3f699196abe_36_13544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g3f699196abe_36_13544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g3f699196abe_36_13544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g3f699196abe_36_13544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g3f699196abe_36_13544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g3f699196abe_36_13544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g3f699196abe_36_13544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g3f699196abe_36_13544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g3f699196abe_36_13544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g3f699196abe_36_13544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g3f699196abe_36_13544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g3f699196abe_36_13544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g3f699196abe_36_13544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g3f699196abe_36_13544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g3f699196abe_36_13544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g3f699196abe_36_13544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g3f699196abe_36_13544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g3f699196abe_36_13544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g3f699196abe_36_13544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g3f699196abe_36_13544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g3f699196abe_36_13544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g3f699196abe_36_13544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g3f699196abe_36_13544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g3f699196abe_36_13544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g3f699196abe_36_13544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g3f699196abe_36_13544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g3f699196abe_36_13544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g3f699196abe_36_13544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g3f699196abe_36_13544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g3f699196abe_36_13544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g3f699196abe_36_13544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g3f699196abe_36_13544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g3f699196abe_36_13544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g3f699196abe_36_13544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g3f699196abe_36_13544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g3f699196abe_36_13544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g3f699196abe_36_13544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g3f699196abe_36_13544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g3f699196abe_36_13544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g3f699196abe_36_13544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g3f699196abe_36_13544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g3f699196abe_36_13544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g3f699196abe_36_13544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g3f699196abe_36_13544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g3f699196abe_36_13544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g3f699196abe_36_13544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g3f699196abe_36_13544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f699196abe_36_13544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g3f699196abe_36_13544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g3f699196abe_36_13544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g3f699196abe_36_13544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g3f699196abe_36_13544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g3f699196abe_36_13544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g3f699196abe_36_13544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f699196abe_36_13544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g3f699196abe_36_13544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g3f699196abe_36_13544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f699196abe_36_13544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f699196abe_36_13544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f699196abe_36_13544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f699196abe_36_13544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f699196abe_36_13544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f699196abe_36_13544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f699196abe_36_13544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f699196abe_36_13544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f699196abe_36_13544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g3f699196abe_36_13544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f699196abe_36_13544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g3f699196abe_36_13544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g3f699196abe_36_13544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g3f699196abe_36_13544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f699196abe_36_13544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g3f699196abe_36_13544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g3f699196abe_36_13544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g3f699196abe_36_13544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g3f699196abe_36_13544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g3f699196abe_36_13544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g3f699196abe_36_13544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g3f699196abe_36_13544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g3f699196abe_36_13544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g3f699196abe_36_13544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g3f699196abe_36_13544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g3f699196abe_36_13544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g3f699196abe_36_13544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g3f699196abe_36_13544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g3f699196abe_36_13544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g3f699196abe_36_13544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g3f699196abe_36_13544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f699196abe_36_13544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g3f699196abe_36_13544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g3f699196abe_36_13544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f699196abe_36_13544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g3f699196abe_36_13544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g3f699196abe_36_13544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g3f699196abe_36_13544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g3f699196abe_36_13544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g3f699196abe_36_13544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89" name="Google Shape;689;g3f699196abe_36_1354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90" name="Google Shape;690;g3f699196abe_36_13544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91" name="Google Shape;691;g3f699196abe_36_135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3" name="Google Shape;693;g3f699196abe_36_137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4" name="Google Shape;694;g3f699196abe_36_137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5" name="Google Shape;695;g3f699196abe_36_137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6" name="Google Shape;696;g3f699196abe_36_137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97" name="Google Shape;697;g3f699196abe_36_13757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698" name="Google Shape;698;g3f699196abe_36_13757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99" name="Google Shape;699;g3f699196abe_36_13757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00" name="Google Shape;700;g3f699196abe_36_13757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1" name="Google Shape;701;g3f699196abe_36_13757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2" name="Google Shape;702;g3f699196abe_36_13757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3" name="Google Shape;703;g3f699196abe_36_13757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04" name="Google Shape;704;g3f699196abe_36_13757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705" name="Google Shape;705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6" name="Google Shape;706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g3f699196abe_36_13757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9" name="Google Shape;709;g3f699196abe_36_137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10" name="Google Shape;710;g3f699196abe_36_13757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11" name="Google Shape;711;g3f699196abe_36_1375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3" name="Google Shape;713;g3f699196abe_36_1377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4" name="Google Shape;714;g3f699196abe_36_1377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5" name="Google Shape;715;g3f699196abe_36_1377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6" name="Google Shape;716;g3f699196abe_36_1377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17" name="Google Shape;717;g3f699196abe_36_13777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18" name="Google Shape;718;g3f699196abe_36_13777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19" name="Google Shape;719;g3f699196abe_36_13777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720" name="Google Shape;720;g3f699196abe_36_13777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21" name="Google Shape;721;g3f699196abe_36_13777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722" name="Google Shape;722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g3f699196abe_36_13777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5" name="Google Shape;725;g3f699196abe_36_1377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26" name="Google Shape;726;g3f699196abe_36_13777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27" name="Google Shape;727;g3f699196abe_36_1377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f699196abe_36_137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30" name="Google Shape;730;g3f699196abe_36_137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1" name="Google Shape;731;g3f699196abe_36_137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2" name="Google Shape;732;g3f699196abe_36_137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g3f699196abe_36_137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4" name="Google Shape;734;g3f699196abe_36_13793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35" name="Google Shape;735;g3f699196abe_36_13793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736" name="Google Shape;736;g3f699196abe_36_1379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7" name="Google Shape;737;g3f699196abe_36_1379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g3f699196abe_36_138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0" name="Google Shape;740;g3f699196abe_36_138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1" name="Google Shape;741;g3f699196abe_36_138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2" name="Google Shape;742;g3f699196abe_36_1380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3" name="Google Shape;743;g3f699196abe_36_1380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4" name="Google Shape;744;g3f699196abe_36_1380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5" name="Google Shape;745;g3f699196abe_36_1380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6" name="Google Shape;746;g3f699196abe_36_1380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7" name="Google Shape;747;g3f699196abe_36_1380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8" name="Google Shape;748;g3f699196abe_36_1380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9" name="Google Shape;749;g3f699196abe_36_1380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50" name="Google Shape;750;g3f699196abe_36_1380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1" name="Google Shape;751;g3f699196abe_36_1380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2" name="Google Shape;752;g3f699196abe_36_138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53" name="Google Shape;753;g3f699196abe_36_1380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54" name="Google Shape;754;g3f699196abe_36_138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6" name="Google Shape;756;g3f699196abe_36_1382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7" name="Google Shape;757;g3f699196abe_36_138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8" name="Google Shape;758;g3f699196abe_36_138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9" name="Google Shape;759;g3f699196abe_36_1382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60" name="Google Shape;760;g3f699196abe_36_13820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61" name="Google Shape;761;g3f699196abe_36_13820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62" name="Google Shape;762;g3f699196abe_36_13820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63" name="Google Shape;763;g3f699196abe_36_13820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4" name="Google Shape;764;g3f699196abe_36_13820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5" name="Google Shape;765;g3f699196abe_36_13820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6" name="Google Shape;766;g3f699196abe_36_13820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7" name="Google Shape;767;g3f699196abe_36_13820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8" name="Google Shape;768;g3f699196abe_36_13820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9" name="Google Shape;769;g3f699196abe_36_13820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70" name="Google Shape;770;g3f699196abe_36_13820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71" name="Google Shape;771;g3f699196abe_36_13820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72" name="Google Shape;772;g3f699196abe_36_1382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73" name="Google Shape;773;g3f699196abe_36_13820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74" name="Google Shape;774;g3f699196abe_36_1382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f699196abe_36_13840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77" name="Google Shape;777;g3f699196abe_36_13840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778" name="Google Shape;778;g3f699196abe_36_1384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779" name="Google Shape;779;g3f699196abe_36_138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0" name="Google Shape;780;g3f699196abe_36_138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1" name="Google Shape;781;g3f699196abe_36_138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2" name="Google Shape;782;g3f699196abe_36_13840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83" name="Google Shape;783;g3f699196abe_36_13840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4" name="Google Shape;784;g3f699196abe_36_13840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85" name="Google Shape;785;g3f699196abe_36_13840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6" name="Google Shape;786;g3f699196abe_36_13840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87" name="Google Shape;787;g3f699196abe_36_13840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8" name="Google Shape;788;g3f699196abe_36_13840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789" name="Google Shape;789;g3f699196abe_36_1384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1" name="Google Shape;791;g3f699196abe_36_138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2" name="Google Shape;792;g3f699196abe_36_138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3" name="Google Shape;793;g3f699196abe_36_138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4" name="Google Shape;794;g3f699196abe_36_1385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5" name="Google Shape;795;g3f699196abe_36_13855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796" name="Google Shape;796;g3f699196abe_36_1385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97" name="Google Shape;797;g3f699196abe_36_1385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98" name="Google Shape;798;g3f699196abe_36_1385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99" name="Google Shape;799;g3f699196abe_36_138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1" name="Google Shape;801;g3f699196abe_36_1386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2" name="Google Shape;802;g3f699196abe_36_138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3" name="Google Shape;803;g3f699196abe_36_138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04" name="Google Shape;804;g3f699196abe_36_1386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5" name="Google Shape;805;g3f699196abe_36_13865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06" name="Google Shape;806;g3f699196abe_36_1386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07" name="Google Shape;807;g3f699196abe_36_1386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08" name="Google Shape;808;g3f699196abe_36_1386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09" name="Google Shape;809;g3f699196abe_36_1386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f699196abe_36_13875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812" name="Google Shape;812;g3f699196abe_36_13875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13" name="Google Shape;813;g3f699196abe_36_1387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4" name="Google Shape;814;g3f699196abe_36_1387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5" name="Google Shape;815;g3f699196abe_36_1387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6" name="Google Shape;816;g3f699196abe_36_13875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817" name="Google Shape;817;g3f699196abe_36_1387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3f699196abe_36_13883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820" name="Google Shape;820;g3f699196abe_36_13883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821" name="Google Shape;821;g3f699196abe_36_1388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822" name="Google Shape;822;g3f699196abe_36_1388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3" name="Google Shape;823;g3f699196abe_36_1388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24" name="Google Shape;824;g3f699196abe_36_1388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5" name="Google Shape;825;g3f699196abe_36_1388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6" name="Google Shape;826;g3f699196abe_36_13883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827" name="Google Shape;827;g3f699196abe_36_138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9" name="Google Shape;829;g3f699196abe_36_138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0" name="Google Shape;830;g3f699196abe_36_138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31" name="Google Shape;831;g3f699196abe_36_138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2" name="Google Shape;832;g3f699196abe_36_138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33" name="Google Shape;833;g3f699196abe_36_138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34" name="Google Shape;834;g3f699196abe_36_13893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35" name="Google Shape;835;g3f699196abe_36_13893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36" name="Google Shape;836;g3f699196abe_36_1389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44" name="Google Shape;844;p1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6" name="Google Shape;846;p1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7" name="Google Shape;847;p1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48" name="Google Shape;848;p1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849" name="Google Shape;849;p1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0" name="Google Shape;850;p1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51" name="Google Shape;851;p12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2" name="Google Shape;852;p1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4" name="Google Shape;854;p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5" name="Google Shape;855;p1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56" name="Google Shape;856;p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7" name="Google Shape;857;p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8" name="Google Shape;858;p1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9" name="Google Shape;859;p1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0" name="Google Shape;860;p1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1" name="Google Shape;861;p1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62" name="Google Shape;862;p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4" name="Google Shape;864;p1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65" name="Google Shape;865;p1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6" name="Google Shape;866;p1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7" name="Google Shape;867;p1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8" name="Google Shape;868;p15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9" name="Google Shape;869;p15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70" name="Google Shape;870;p15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71" name="Google Shape;871;p1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72" name="Google Shape;872;p15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73" name="Google Shape;873;p1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p1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76" name="Google Shape;876;p1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77" name="Google Shape;877;p1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78" name="Google Shape;878;p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79" name="Google Shape;879;p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0" name="Google Shape;880;p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1" name="Google Shape;881;p1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82" name="Google Shape;882;p1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83" name="Google Shape;883;p1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84" name="Google Shape;884;p1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5" name="Google Shape;885;p1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6" name="Google Shape;886;p1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7" name="Google Shape;887;p1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8" name="Google Shape;888;p1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9" name="Google Shape;889;p1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90" name="Google Shape;890;p1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91" name="Google Shape;891;p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92" name="Google Shape;892;p1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93" name="Google Shape;893;p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9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896" name="Google Shape;896;p1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7" name="Google Shape;897;p19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898" name="Google Shape;898;p19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p1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0" name="Google Shape;900;p19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19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02" name="Google Shape;902;p19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03" name="Google Shape;903;p19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04" name="Google Shape;904;p19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05" name="Google Shape;905;p19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906" name="Google Shape;906;p19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907" name="Google Shape;90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8" name="Google Shape;90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9" name="Google Shape;90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19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3" name="Google Shape;913;p1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14" name="Google Shape;914;p1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p1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6" name="Google Shape;916;p1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917" name="Google Shape;917;p14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918" name="Google Shape;918;p14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919" name="Google Shape;919;p14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0" name="Google Shape;920;p14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1" name="Google Shape;921;p14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2" name="Google Shape;922;p14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3" name="Google Shape;923;p14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4" name="Google Shape;924;p14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5" name="Google Shape;925;p14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6" name="Google Shape;926;p1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27" name="Google Shape;927;p14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28" name="Google Shape;928;p1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31" name="Google Shape;931;p1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932" name="Google Shape;932;p1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33" name="Google Shape;933;p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4" name="Google Shape;934;p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5" name="Google Shape;935;p16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36" name="Google Shape;936;p1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37" name="Google Shape;937;p16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938" name="Google Shape;938;p1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40" name="Google Shape;940;p1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1" name="Google Shape;941;p1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2" name="Google Shape;942;p1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3" name="Google Shape;943;p1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44" name="Google Shape;944;p17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945" name="Google Shape;945;p1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6" name="Google Shape;946;p1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47" name="Google Shape;947;p1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48" name="Google Shape;948;p1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20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0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2" name="Google Shape;952;p20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3" name="Google Shape;953;p20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54" name="Google Shape;954;p20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55" name="Google Shape;955;p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6" name="Google Shape;956;p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7" name="Google Shape;95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21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21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1" name="Google Shape;961;p21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62" name="Google Shape;96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3" name="Google Shape;96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4" name="Google Shape;96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5" name="Google Shape;965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966" name="Google Shape;966;p21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7" name="Google Shape;967;p21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" name="Google Shape;968;p21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" name="Google Shape;969;p21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970" name="Google Shape;970;p21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71" name="Google Shape;971;p2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2" name="Google Shape;972;p2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3" name="Google Shape;973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2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2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8" name="Google Shape;978;p2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9" name="Google Shape;979;p2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80" name="Google Shape;980;p2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81" name="Google Shape;981;p2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2" name="Google Shape;982;p2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83" name="Google Shape;983;p2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23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86" name="Google Shape;986;p23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8" name="Google Shape;988;p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9" name="Google Shape;989;p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90" name="Google Shape;990;p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91" name="Google Shape;991;p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2" name="Google Shape;992;p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93" name="Google Shape;993;p23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4" name="Google Shape;994;p2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24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97" name="Google Shape;997;p24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24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999" name="Google Shape;999;p24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0" name="Google Shape;1000;p24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1" name="Google Shape;1001;p24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2" name="Google Shape;1002;p24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3" name="Google Shape;1003;p24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04" name="Google Shape;1004;p24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5" name="Google Shape;1005;p2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6" name="Google Shape;1006;p2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7" name="Google Shape;100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8" name="Google Shape;100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9" name="Google Shape;100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0" name="Google Shape;101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1" name="Google Shape;1011;p24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25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4" name="Google Shape;1014;p25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25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016" name="Google Shape;1016;p25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7" name="Google Shape;1017;p25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8" name="Google Shape;1018;p25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9" name="Google Shape;1019;p25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20" name="Google Shape;1020;p25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21" name="Google Shape;1021;p25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2" name="Google Shape;1022;p2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3" name="Google Shape;1023;p2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24" name="Google Shape;1024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5" name="Google Shape;102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Google Shape;102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Google Shape;102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Google Shape;1028;p25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1029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p26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1" name="Google Shape;1031;p2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2" name="Google Shape;1032;p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3" name="Google Shape;1033;p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34" name="Google Shape;1034;p2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Google Shape;1036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7" name="Google Shape;1037;p27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8" name="Google Shape;1038;p27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9" name="Google Shape;1039;p27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40" name="Google Shape;1040;p27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41" name="Google Shape;1041;p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2" name="Google Shape;1042;p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43" name="Google Shape;1043;p2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2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46" name="Google Shape;1046;p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7" name="Google Shape;1047;p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8" name="Google Shape;1048;p2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49" name="Google Shape;1049;p2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1050" name="Google Shape;1050;p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1" name="Google Shape;1051;p2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29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54" name="Google Shape;1054;p2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5" name="Google Shape;1055;p2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6" name="Google Shape;1056;p29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57" name="Google Shape;1057;p29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8" name="Google Shape;1058;p2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9" name="Google Shape;1059;p2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1" name="Google Shape;1061;p3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2" name="Google Shape;1062;p3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3" name="Google Shape;1063;p3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64" name="Google Shape;1064;p3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5" name="Google Shape;1065;p30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1066" name="Google Shape;1066;p3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p3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69" name="Google Shape;1069;p3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0" name="Google Shape;1070;p3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1" name="Google Shape;1071;p3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72" name="Google Shape;1072;p3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1073" name="Google Shape;1073;p3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74" name="Google Shape;1074;p3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5" name="Google Shape;1075;p3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2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078" name="Google Shape;1078;p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9" name="Google Shape;1079;p3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0" name="Google Shape;1080;p3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81" name="Google Shape;1081;p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82" name="Google Shape;1082;p3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1083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p33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85" name="Google Shape;1085;p33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086" name="Google Shape;1086;p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7" name="Google Shape;1087;p33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88" name="Google Shape;1088;p33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9" name="Google Shape;1089;p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90" name="Google Shape;1090;p3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34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93" name="Google Shape;1093;p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4" name="Google Shape;1094;p34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95" name="Google Shape;1095;p34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96" name="Google Shape;1096;p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7" name="Google Shape;1097;p34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98" name="Google Shape;1098;p34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99" name="Google Shape;1099;p34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00" name="Google Shape;1100;p34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1" name="Google Shape;1101;p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1102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5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04" name="Google Shape;1104;p35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05" name="Google Shape;1105;p3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06" name="Google Shape;1106;p35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7" name="Google Shape;1107;p3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8" name="Google Shape;1108;p3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09" name="Google Shape;1109;p3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0" name="Shape 1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Google Shape;1111;p3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112" name="Google Shape;1112;p3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3" name="Google Shape;1113;p3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4" name="Google Shape;1114;p3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5" name="Google Shape;1115;p3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116" name="Google Shape;1116;p3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7" name="Google Shape;1117;p3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3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20" name="Google Shape;1120;p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1" name="Google Shape;1121;p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2" name="Google Shape;1122;p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3" name="Google Shape;1123;p3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4" name="Google Shape;1124;p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25" name="Google Shape;1125;p37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26" name="Google Shape;1126;p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p3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129" name="Google Shape;1129;p3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0" name="Google Shape;1130;p3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1" name="Google Shape;1131;p3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32" name="Google Shape;1132;p3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33" name="Google Shape;1133;p38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38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38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6" name="Google Shape;1136;p3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3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38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39" name="Google Shape;1139;p38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40" name="Google Shape;1140;p38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41" name="Google Shape;1141;p3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42" name="Google Shape;1142;p38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43" name="Google Shape;1143;p3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5" name="Google Shape;1145;p3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6" name="Google Shape;1146;p3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7" name="Google Shape;1147;p3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48" name="Google Shape;1148;p3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49" name="Google Shape;1149;p39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9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9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39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39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54" name="Google Shape;1154;p3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55" name="Google Shape;1155;p3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56" name="Google Shape;1156;p39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57" name="Google Shape;1157;p39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1158" name="Google Shape;1158;p3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0" name="Google Shape;1160;p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1" name="Google Shape;1161;p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2" name="Google Shape;1162;p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3" name="Google Shape;1163;p4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64" name="Google Shape;1164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5" name="Google Shape;1165;p40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6" name="Google Shape;1166;p40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7" name="Google Shape;1167;p40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8" name="Google Shape;1168;p40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69" name="Google Shape;1169;p4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70" name="Google Shape;1170;p40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71" name="Google Shape;1171;p4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p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174" name="Google Shape;1174;p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5" name="Google Shape;1175;p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6" name="Google Shape;1176;p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7" name="Google Shape;1177;p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78" name="Google Shape;1178;p4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1179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0" name="Google Shape;1180;p4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1" name="Google Shape;1181;p4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2" name="Google Shape;1182;p4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3" name="Google Shape;1183;p42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4" name="Google Shape;1184;p4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85" name="Google Shape;1185;p4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86" name="Google Shape;1186;p42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87" name="Google Shape;1187;p4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90" name="Google Shape;1190;p4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1" name="Google Shape;1191;p4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2" name="Google Shape;1192;p4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3" name="Google Shape;1193;p4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94" name="Google Shape;1194;p43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95" name="Google Shape;1195;p4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4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98" name="Google Shape;1198;p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9" name="Google Shape;1199;p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0" name="Google Shape;1200;p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01" name="Google Shape;1201;p4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02" name="Google Shape;1202;p44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3" name="Google Shape;1203;p44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04" name="Google Shape;1204;p44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05" name="Google Shape;1205;p44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206" name="Google Shape;1206;p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8" name="Google Shape;1208;p4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9" name="Google Shape;1209;p4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0" name="Google Shape;1210;p4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1" name="Google Shape;1211;p4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12" name="Google Shape;1212;p45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3" name="Google Shape;1213;p45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14" name="Google Shape;1214;p45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15" name="Google Shape;1215;p45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16" name="Google Shape;1216;p45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7" name="Google Shape;1217;p45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18" name="Google Shape;1218;p45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9" name="Google Shape;1219;p4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20" name="Google Shape;1220;p45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21" name="Google Shape;1221;p4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4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24" name="Google Shape;1224;p4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225" name="Google Shape;1225;p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6" name="Google Shape;1226;p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7" name="Google Shape;1227;p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8" name="Google Shape;1228;p4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9" name="Google Shape;1229;p4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1230" name="Google Shape;1230;p4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31" name="Google Shape;1231;p4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2" name="Google Shape;1232;p4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33" name="Google Shape;1233;p4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4" name="Google Shape;1234;p4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35" name="Google Shape;1235;p4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6" name="Google Shape;1236;p4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37" name="Google Shape;1237;p4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38" name="Google Shape;1238;p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1239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0" name="Google Shape;1240;p4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41" name="Google Shape;1241;p4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2" name="Google Shape;1242;p4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3" name="Google Shape;1243;p4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44" name="Google Shape;1244;p47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45" name="Google Shape;1245;p47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46" name="Google Shape;1246;p47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47" name="Google Shape;1247;p47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48" name="Google Shape;1248;p47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49" name="Google Shape;1249;p47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50" name="Google Shape;1250;p47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51" name="Google Shape;1251;p4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52" name="Google Shape;1252;p47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53" name="Google Shape;1253;p4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5" name="Google Shape;1255;p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56" name="Google Shape;1256;p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7" name="Google Shape;1257;p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8" name="Google Shape;1258;p4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59" name="Google Shape;1259;p4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60" name="Google Shape;1260;p4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1" name="Google Shape;1261;p4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2" name="Google Shape;1262;p4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3" name="Google Shape;1263;p4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4" name="Google Shape;1264;p4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5" name="Google Shape;1265;p4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6" name="Google Shape;1266;p4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67" name="Google Shape;1267;p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68" name="Google Shape;1268;p4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69" name="Google Shape;1269;p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71" name="Google Shape;1271;p4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2" name="Google Shape;1272;p4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3" name="Google Shape;1273;p4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4" name="Google Shape;1274;p4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75" name="Google Shape;1275;p49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76" name="Google Shape;1276;p49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77" name="Google Shape;1277;p49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78" name="Google Shape;1278;p49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79" name="Google Shape;1279;p49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49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49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49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49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49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49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49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49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49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49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49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49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49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49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49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49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49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49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49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49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49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49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49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49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49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49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49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49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49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49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49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49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49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49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49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49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49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49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49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49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49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49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p49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49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49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49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49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49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49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49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0" name="Google Shape;1330;p49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1" name="Google Shape;1331;p49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49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3" name="Google Shape;1333;p49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p49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49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49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49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49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9" name="Google Shape;1339;p49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49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49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49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49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49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p49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p49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49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p49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49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0" name="Google Shape;1350;p49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p49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p49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49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4" name="Google Shape;1354;p49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5" name="Google Shape;1355;p49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49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49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49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49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49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49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49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49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49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49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p49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49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49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9" name="Google Shape;1369;p49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p49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p49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49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49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4" name="Google Shape;1374;p49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49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49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49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p49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49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0" name="Google Shape;1380;p49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p49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49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49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49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49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49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p49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8" name="Google Shape;1388;p49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9" name="Google Shape;1389;p49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49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49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2" name="Google Shape;1392;p49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49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49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5" name="Google Shape;1395;p49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49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49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49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49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49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49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p49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49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49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49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6" name="Google Shape;1406;p49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49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p49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9" name="Google Shape;1409;p49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49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49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p49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49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49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49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49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49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49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49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49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49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49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49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49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49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9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9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49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9" name="Google Shape;1429;p49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49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49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49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49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49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49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49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49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49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9" name="Google Shape;1439;p49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0" name="Google Shape;1440;p49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49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49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49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49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49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6" name="Google Shape;1446;p49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49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49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9" name="Google Shape;1449;p49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49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1" name="Google Shape;1451;p49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49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49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49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49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9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9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49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9" name="Google Shape;1459;p49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0" name="Google Shape;1460;p49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49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49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3" name="Google Shape;1463;p49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49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49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6" name="Google Shape;1466;p49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7" name="Google Shape;1467;p49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8" name="Google Shape;1468;p49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9" name="Google Shape;1469;p49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0" name="Google Shape;1470;p49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1" name="Google Shape;1471;p49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49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49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49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49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49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49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49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9" name="Google Shape;1479;p49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80" name="Google Shape;1480;p4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81" name="Google Shape;1481;p49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482" name="Google Shape;1482;p4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1483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4" name="Google Shape;1484;p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5" name="Google Shape;1485;p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6" name="Google Shape;1486;p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7" name="Google Shape;1487;p5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488" name="Google Shape;1488;p50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489" name="Google Shape;1489;p50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490" name="Google Shape;1490;p50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91" name="Google Shape;1491;p50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2" name="Google Shape;1492;p50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3" name="Google Shape;1493;p50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4" name="Google Shape;1494;p50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95" name="Google Shape;1495;p50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1496" name="Google Shape;149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7" name="Google Shape;1497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8" name="Google Shape;1498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50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00" name="Google Shape;1500;p5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01" name="Google Shape;1501;p50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02" name="Google Shape;1502;p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1503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4" name="Google Shape;1504;p5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5" name="Google Shape;1505;p5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6" name="Google Shape;1506;p5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7" name="Google Shape;1507;p5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508" name="Google Shape;1508;p51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509" name="Google Shape;1509;p51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510" name="Google Shape;1510;p51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511" name="Google Shape;1511;p51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512" name="Google Shape;1512;p51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13" name="Google Shape;1513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4" name="Google Shape;1514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1515" name="Google Shape;1515;p51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16" name="Google Shape;1516;p5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17" name="Google Shape;1517;p51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18" name="Google Shape;1518;p5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1519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5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521" name="Google Shape;1521;p5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2" name="Google Shape;1522;p5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3" name="Google Shape;1523;p5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4" name="Google Shape;1524;p5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25" name="Google Shape;1525;p52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26" name="Google Shape;1526;p52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527" name="Google Shape;1527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8" name="Google Shape;1528;p5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0" name="Google Shape;1530;p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1" name="Google Shape;1531;p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p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3" name="Google Shape;1533;p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4" name="Google Shape;1534;p5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5" name="Google Shape;1535;p5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6" name="Google Shape;1536;p5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7" name="Google Shape;1537;p5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8" name="Google Shape;1538;p5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9" name="Google Shape;1539;p5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0" name="Google Shape;1540;p5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41" name="Google Shape;1541;p5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2" name="Google Shape;1542;p5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3" name="Google Shape;1543;p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44" name="Google Shape;1544;p5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45" name="Google Shape;1545;p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1546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47" name="Google Shape;1547;p5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48" name="Google Shape;1548;p5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9" name="Google Shape;1549;p5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50" name="Google Shape;1550;p5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551" name="Google Shape;1551;p54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52" name="Google Shape;1552;p54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53" name="Google Shape;1553;p54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554" name="Google Shape;1554;p54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5" name="Google Shape;1555;p54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6" name="Google Shape;1556;p54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7" name="Google Shape;1557;p54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8" name="Google Shape;1558;p54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9" name="Google Shape;1559;p54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0" name="Google Shape;1560;p54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61" name="Google Shape;1561;p54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2" name="Google Shape;1562;p54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3" name="Google Shape;1563;p5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64" name="Google Shape;1564;p54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65" name="Google Shape;1565;p5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1566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55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68" name="Google Shape;1568;p55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1569" name="Google Shape;1569;p55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570" name="Google Shape;1570;p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71" name="Google Shape;1571;p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2" name="Google Shape;1572;p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3" name="Google Shape;1573;p55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74" name="Google Shape;1574;p55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5" name="Google Shape;1575;p55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76" name="Google Shape;1576;p55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7" name="Google Shape;1577;p55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78" name="Google Shape;1578;p55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9" name="Google Shape;1579;p55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1580" name="Google Shape;1580;p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158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2" name="Google Shape;1582;p5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83" name="Google Shape;1583;p5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4" name="Google Shape;1584;p5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85" name="Google Shape;1585;p5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86" name="Google Shape;1586;p56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1587" name="Google Shape;1587;p56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88" name="Google Shape;1588;p5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89" name="Google Shape;1589;p56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90" name="Google Shape;1590;p5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92" name="Google Shape;1592;p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3" name="Google Shape;1593;p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4" name="Google Shape;1594;p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95" name="Google Shape;1595;p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96" name="Google Shape;1596;p57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97" name="Google Shape;1597;p5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98" name="Google Shape;1598;p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99" name="Google Shape;1599;p5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600" name="Google Shape;1600;p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p58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1603" name="Google Shape;1603;p5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04" name="Google Shape;1604;p5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05" name="Google Shape;1605;p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6" name="Google Shape;1606;p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07" name="Google Shape;1607;p5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608" name="Google Shape;1608;p5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1609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p59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611" name="Google Shape;1611;p59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612" name="Google Shape;1612;p59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1613" name="Google Shape;1613;p5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4" name="Google Shape;1614;p5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15" name="Google Shape;1615;p5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6" name="Google Shape;1616;p5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7" name="Google Shape;1617;p59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618" name="Google Shape;161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20" name="Google Shape;1620;p6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1" name="Google Shape;1621;p6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22" name="Google Shape;1622;p6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p6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24" name="Google Shape;1624;p6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5" name="Google Shape;1625;p60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26" name="Google Shape;1626;p60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627" name="Google Shape;1627;p6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2.xml"/><Relationship Id="rId19" Type="http://schemas.openxmlformats.org/officeDocument/2006/relationships/slideLayout" Target="../slideLayouts/slideLayout73.xml"/><Relationship Id="rId20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5.xml"/><Relationship Id="rId22" Type="http://schemas.openxmlformats.org/officeDocument/2006/relationships/slideLayout" Target="../slideLayouts/slideLayout76.xml"/><Relationship Id="rId23" Type="http://schemas.openxmlformats.org/officeDocument/2006/relationships/slideLayout" Target="../slideLayouts/slideLayout77.xml"/><Relationship Id="rId24" Type="http://schemas.openxmlformats.org/officeDocument/2006/relationships/slideLayout" Target="../slideLayouts/slideLayout78.xml"/><Relationship Id="rId25" Type="http://schemas.openxmlformats.org/officeDocument/2006/relationships/slideLayout" Target="../slideLayouts/slideLayout79.xml"/><Relationship Id="rId26" Type="http://schemas.openxmlformats.org/officeDocument/2006/relationships/slideLayout" Target="../slideLayouts/slideLayout80.xml"/><Relationship Id="rId27" Type="http://schemas.openxmlformats.org/officeDocument/2006/relationships/slideLayout" Target="../slideLayouts/slideLayout81.xml"/><Relationship Id="rId28" Type="http://schemas.openxmlformats.org/officeDocument/2006/relationships/slideLayout" Target="../slideLayouts/slideLayout82.xml"/><Relationship Id="rId29" Type="http://schemas.openxmlformats.org/officeDocument/2006/relationships/slideLayout" Target="../slideLayouts/slideLayout83.xml"/><Relationship Id="rId30" Type="http://schemas.openxmlformats.org/officeDocument/2006/relationships/slideLayout" Target="../slideLayouts/slideLayout84.xml"/><Relationship Id="rId31" Type="http://schemas.openxmlformats.org/officeDocument/2006/relationships/slideLayout" Target="../slideLayouts/slideLayout85.xml"/><Relationship Id="rId32" Type="http://schemas.openxmlformats.org/officeDocument/2006/relationships/slideLayout" Target="../slideLayouts/slideLayout86.xml"/><Relationship Id="rId33" Type="http://schemas.openxmlformats.org/officeDocument/2006/relationships/slideLayout" Target="../slideLayouts/slideLayout87.xml"/><Relationship Id="rId34" Type="http://schemas.openxmlformats.org/officeDocument/2006/relationships/slideLayout" Target="../slideLayouts/slideLayout88.xml"/><Relationship Id="rId35" Type="http://schemas.openxmlformats.org/officeDocument/2006/relationships/slideLayout" Target="../slideLayouts/slideLayout89.xml"/><Relationship Id="rId36" Type="http://schemas.openxmlformats.org/officeDocument/2006/relationships/slideLayout" Target="../slideLayouts/slideLayout90.xml"/><Relationship Id="rId37" Type="http://schemas.openxmlformats.org/officeDocument/2006/relationships/slideLayout" Target="../slideLayouts/slideLayout91.xml"/><Relationship Id="rId38" Type="http://schemas.openxmlformats.org/officeDocument/2006/relationships/slideLayout" Target="../slideLayouts/slideLayout92.xml"/><Relationship Id="rId39" Type="http://schemas.openxmlformats.org/officeDocument/2006/relationships/slideLayout" Target="../slideLayouts/slideLayout93.xml"/><Relationship Id="rId40" Type="http://schemas.openxmlformats.org/officeDocument/2006/relationships/slideLayout" Target="../slideLayouts/slideLayout94.xml"/><Relationship Id="rId41" Type="http://schemas.openxmlformats.org/officeDocument/2006/relationships/slideLayout" Target="../slideLayouts/slideLayout95.xml"/><Relationship Id="rId42" Type="http://schemas.openxmlformats.org/officeDocument/2006/relationships/slideLayout" Target="../slideLayouts/slideLayout96.xml"/><Relationship Id="rId43" Type="http://schemas.openxmlformats.org/officeDocument/2006/relationships/slideLayout" Target="../slideLayouts/slideLayout97.xml"/><Relationship Id="rId44" Type="http://schemas.openxmlformats.org/officeDocument/2006/relationships/slideLayout" Target="../slideLayouts/slideLayout98.xml"/><Relationship Id="rId45" Type="http://schemas.openxmlformats.org/officeDocument/2006/relationships/slideLayout" Target="../slideLayouts/slideLayout99.xml"/><Relationship Id="rId46" Type="http://schemas.openxmlformats.org/officeDocument/2006/relationships/slideLayout" Target="../slideLayouts/slideLayout100.xml"/><Relationship Id="rId47" Type="http://schemas.openxmlformats.org/officeDocument/2006/relationships/slideLayout" Target="../slideLayouts/slideLayout101.xml"/><Relationship Id="rId48" Type="http://schemas.openxmlformats.org/officeDocument/2006/relationships/slideLayout" Target="../slideLayouts/slideLayout102.xml"/><Relationship Id="rId49" Type="http://schemas.openxmlformats.org/officeDocument/2006/relationships/slideLayout" Target="../slideLayouts/slideLayout103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699196abe_36_131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" name="Google Shape;7;g3f699196abe_36_131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" name="Google Shape;8;g3f699196abe_36_131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9" name="Google Shape;9;g3f699196abe_36_131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39" name="Google Shape;839;p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40" name="Google Shape;840;p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841" name="Google Shape;841;p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  <p:sldLayoutId id="2147483725" r:id="rId22"/>
    <p:sldLayoutId id="2147483726" r:id="rId23"/>
    <p:sldLayoutId id="2147483727" r:id="rId24"/>
    <p:sldLayoutId id="2147483728" r:id="rId25"/>
    <p:sldLayoutId id="2147483729" r:id="rId26"/>
    <p:sldLayoutId id="2147483730" r:id="rId27"/>
    <p:sldLayoutId id="2147483731" r:id="rId28"/>
    <p:sldLayoutId id="2147483732" r:id="rId29"/>
    <p:sldLayoutId id="2147483733" r:id="rId30"/>
    <p:sldLayoutId id="2147483734" r:id="rId31"/>
    <p:sldLayoutId id="2147483735" r:id="rId32"/>
    <p:sldLayoutId id="2147483736" r:id="rId33"/>
    <p:sldLayoutId id="2147483737" r:id="rId34"/>
    <p:sldLayoutId id="2147483738" r:id="rId35"/>
    <p:sldLayoutId id="2147483739" r:id="rId36"/>
    <p:sldLayoutId id="2147483740" r:id="rId37"/>
    <p:sldLayoutId id="2147483741" r:id="rId38"/>
    <p:sldLayoutId id="2147483742" r:id="rId39"/>
    <p:sldLayoutId id="2147483743" r:id="rId40"/>
    <p:sldLayoutId id="2147483744" r:id="rId41"/>
    <p:sldLayoutId id="2147483745" r:id="rId42"/>
    <p:sldLayoutId id="2147483746" r:id="rId43"/>
    <p:sldLayoutId id="2147483747" r:id="rId44"/>
    <p:sldLayoutId id="2147483748" r:id="rId45"/>
    <p:sldLayoutId id="2147483749" r:id="rId46"/>
    <p:sldLayoutId id="2147483750" r:id="rId47"/>
    <p:sldLayoutId id="2147483751" r:id="rId48"/>
    <p:sldLayoutId id="2147483752" r:id="rId4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3.png"/><Relationship Id="rId8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Google Shape;1632;p1"/>
          <p:cNvSpPr txBox="1"/>
          <p:nvPr>
            <p:ph idx="1" type="subTitle"/>
          </p:nvPr>
        </p:nvSpPr>
        <p:spPr>
          <a:xfrm>
            <a:off x="1173725" y="3429000"/>
            <a:ext cx="71439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sz="2000">
                <a:solidFill>
                  <a:srgbClr val="D4D4D4"/>
                </a:solidFill>
              </a:rPr>
              <a:t>Deterministic </a:t>
            </a:r>
            <a:r>
              <a:rPr b="0" lang="en" sz="2000">
                <a:solidFill>
                  <a:srgbClr val="D4D4D4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Signal Compression only using CPU Inferencing when needed</a:t>
            </a:r>
            <a:endParaRPr b="0" sz="2000">
              <a:solidFill>
                <a:srgbClr val="D4D4D4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b="0" sz="1600">
              <a:solidFill>
                <a:srgbClr val="A3A3A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633" name="Google Shape;1633;p1"/>
          <p:cNvSpPr txBox="1"/>
          <p:nvPr>
            <p:ph type="title"/>
          </p:nvPr>
        </p:nvSpPr>
        <p:spPr>
          <a:xfrm>
            <a:off x="952500" y="1905000"/>
            <a:ext cx="7143900" cy="1428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b="1" lang="en" sz="518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Cascade Compression</a:t>
            </a:r>
            <a:endParaRPr b="1" sz="5180">
              <a:solidFill>
                <a:srgbClr val="FFFFFF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34" name="Google Shape;1634;p1"/>
          <p:cNvGrpSpPr/>
          <p:nvPr/>
        </p:nvGrpSpPr>
        <p:grpSpPr>
          <a:xfrm>
            <a:off x="952500" y="1524000"/>
            <a:ext cx="2381400" cy="285900"/>
            <a:chOff x="0" y="0"/>
            <a:chExt cx="2381400" cy="285900"/>
          </a:xfrm>
        </p:grpSpPr>
        <p:sp>
          <p:nvSpPr>
            <p:cNvPr id="1635" name="Google Shape;1635;p1"/>
            <p:cNvSpPr/>
            <p:nvPr/>
          </p:nvSpPr>
          <p:spPr>
            <a:xfrm>
              <a:off x="0" y="0"/>
              <a:ext cx="23814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1"/>
            <p:cNvSpPr txBox="1"/>
            <p:nvPr/>
          </p:nvSpPr>
          <p:spPr>
            <a:xfrm>
              <a:off x="0" y="0"/>
              <a:ext cx="2381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Technical Solution Brief</a:t>
              </a:r>
              <a:endParaRPr b="1" i="0" sz="11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0" name="Shape 1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Google Shape;1641;p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The Problem</a:t>
            </a:r>
            <a:endParaRPr/>
          </a:p>
        </p:txBody>
      </p:sp>
      <p:sp>
        <p:nvSpPr>
          <p:cNvPr id="1642" name="Google Shape;1642;p2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643" name="Google Shape;1643;p2"/>
          <p:cNvSpPr txBox="1"/>
          <p:nvPr/>
        </p:nvSpPr>
        <p:spPr>
          <a:xfrm>
            <a:off x="762000" y="1333500"/>
            <a:ext cx="4953000" cy="4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" sz="32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Every signal hits an LLM.</a:t>
            </a:r>
            <a:endParaRPr b="1" i="0" sz="3200" u="none" cap="none" strike="noStrike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" sz="24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That's the problem.</a:t>
            </a:r>
            <a:endParaRPr b="0" i="0" sz="2400" u="none" cap="none" strike="noStrike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Enterprise AI processes millions of signals daily. The current industry default is to route every transaction, log, and event to a massive model—creating unsustainable bottlenecks and costs.</a:t>
            </a:r>
            <a:endParaRPr b="0" i="0" sz="1400" u="none" cap="none" strike="noStrike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10M transactions/day </a:t>
            </a:r>
            <a:r>
              <a:rPr b="0" i="0" lang="en" sz="12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at a mid-size bank</a:t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100K network elements </a:t>
            </a:r>
            <a:r>
              <a:rPr b="0" i="0" lang="en" sz="12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monitored at a telco</a:t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Continuous vitals &amp; labs </a:t>
            </a:r>
            <a:r>
              <a:rPr b="0" i="0" lang="en" sz="12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tracked constantly in healthcare</a:t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44" name="Google Shape;1644;p2"/>
          <p:cNvGrpSpPr/>
          <p:nvPr/>
        </p:nvGrpSpPr>
        <p:grpSpPr>
          <a:xfrm>
            <a:off x="6286500" y="1333500"/>
            <a:ext cx="5143500" cy="4191000"/>
            <a:chOff x="0" y="0"/>
            <a:chExt cx="5143500" cy="4191000"/>
          </a:xfrm>
        </p:grpSpPr>
        <p:sp>
          <p:nvSpPr>
            <p:cNvPr id="1645" name="Google Shape;1645;p2"/>
            <p:cNvSpPr/>
            <p:nvPr/>
          </p:nvSpPr>
          <p:spPr>
            <a:xfrm>
              <a:off x="0" y="0"/>
              <a:ext cx="5143500" cy="4191000"/>
            </a:xfrm>
            <a:prstGeom prst="roundRect">
              <a:avLst>
                <a:gd fmla="val 18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6" name="Google Shape;1646;p2"/>
            <p:cNvSpPr/>
            <p:nvPr/>
          </p:nvSpPr>
          <p:spPr>
            <a:xfrm>
              <a:off x="0" y="0"/>
              <a:ext cx="114300" cy="4191000"/>
            </a:xfrm>
            <a:custGeom>
              <a:rect b="b" l="l" r="r" t="t"/>
              <a:pathLst>
                <a:path extrusionOk="0" h="120000" w="120000">
                  <a:moveTo>
                    <a:pt x="0" y="2182"/>
                  </a:moveTo>
                  <a:quadBezTo>
                    <a:pt x="0" y="0"/>
                    <a:pt x="80000" y="0"/>
                  </a:quadBezTo>
                  <a:lnTo>
                    <a:pt x="120000" y="0"/>
                  </a:lnTo>
                  <a:lnTo>
                    <a:pt x="120000" y="120000"/>
                  </a:lnTo>
                  <a:lnTo>
                    <a:pt x="80000" y="120000"/>
                  </a:lnTo>
                  <a:quadBezTo>
                    <a:pt x="0" y="120000"/>
                    <a:pt x="0" y="117818"/>
                  </a:quadBezTo>
                  <a:close/>
                </a:path>
              </a:pathLst>
            </a:custGeom>
            <a:solidFill>
              <a:srgbClr val="EE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7" name="Google Shape;1647;p2"/>
            <p:cNvSpPr txBox="1"/>
            <p:nvPr/>
          </p:nvSpPr>
          <p:spPr>
            <a:xfrm>
              <a:off x="381000" y="381000"/>
              <a:ext cx="43815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Core Insight</a:t>
              </a:r>
              <a:endParaRPr b="0" i="0" sz="14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875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b="1" i="0" lang="en" sz="2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But 85-99% of those signals are routine noise.</a:t>
              </a:r>
              <a:endParaRPr b="1" i="0" sz="22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875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Proof</a:t>
              </a:r>
              <a:endParaRPr b="0" i="0" sz="14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400"/>
                <a:buFont typeface="Arial"/>
                <a:buNone/>
              </a:pPr>
              <a:r>
                <a:rPr b="0" i="0" lang="en" sz="6400" u="none" cap="none" strike="noStrike">
                  <a:solidFill>
                    <a:srgbClr val="EE0000"/>
                  </a:solidFill>
                  <a:latin typeface="Red Hat Display ExtraBold"/>
                  <a:ea typeface="Red Hat Display ExtraBold"/>
                  <a:cs typeface="Red Hat Display ExtraBold"/>
                  <a:sym typeface="Red Hat Display ExtraBold"/>
                </a:rPr>
                <a:t>99.5% </a:t>
              </a:r>
              <a:r>
                <a:rPr b="1" i="0" lang="en" sz="16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handled without AI</a:t>
              </a:r>
              <a:endParaRPr b="0" i="0" sz="14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We proved it: Across 68.7M signals, almost all routine traffic was compressed and resolved before ever reaching a model.</a:t>
              </a:r>
              <a:endParaRPr b="0" i="0" sz="13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1" name="Shape 1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Google Shape;1652;p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lang="en" sz="2800"/>
              <a:t>Three tiers. Most signals never touch a model.</a:t>
            </a:r>
            <a:endParaRPr/>
          </a:p>
        </p:txBody>
      </p:sp>
      <p:grpSp>
        <p:nvGrpSpPr>
          <p:cNvPr id="1653" name="Google Shape;1653;p3"/>
          <p:cNvGrpSpPr/>
          <p:nvPr/>
        </p:nvGrpSpPr>
        <p:grpSpPr>
          <a:xfrm>
            <a:off x="762000" y="1905000"/>
            <a:ext cx="1714500" cy="3619500"/>
            <a:chOff x="0" y="0"/>
            <a:chExt cx="1714500" cy="3619500"/>
          </a:xfrm>
        </p:grpSpPr>
        <p:sp>
          <p:nvSpPr>
            <p:cNvPr id="1654" name="Google Shape;1654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22C55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NANO TIER</a:t>
              </a:r>
              <a:endParaRPr b="1" i="0" sz="14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85-99%</a:t>
              </a:r>
              <a:endParaRPr b="1" i="0" sz="1600" u="none" cap="none" strike="noStrike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Deterministic agents handle the vast majority of routine signals instantly.</a:t>
              </a:r>
              <a:endParaRPr b="0" i="0" sz="11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Dedup &amp; transient suppression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Severity gating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Pattern matching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Sub-millisecond.</a:t>
              </a:r>
              <a:b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</a:b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Zero inference cost.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57" name="Google Shape;1657;p3"/>
          <p:cNvGrpSpPr/>
          <p:nvPr/>
        </p:nvGrpSpPr>
        <p:grpSpPr>
          <a:xfrm>
            <a:off x="2667000" y="1905000"/>
            <a:ext cx="1714500" cy="3619500"/>
            <a:chOff x="0" y="0"/>
            <a:chExt cx="1714500" cy="3619500"/>
          </a:xfrm>
        </p:grpSpPr>
        <p:sp>
          <p:nvSpPr>
            <p:cNvPr id="1658" name="Google Shape;1658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0071C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MICRO TIER</a:t>
              </a:r>
              <a:endParaRPr b="1" i="0" sz="14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1-15%</a:t>
              </a:r>
              <a:endParaRPr b="1" i="0" sz="16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Escalated signals analyzed by highly efficient on-premise models.</a:t>
              </a:r>
              <a:endParaRPr b="0" i="0" sz="11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IBM Granite 8B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Intel Xeon 6 CPU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Sub-second classification.</a:t>
              </a:r>
              <a:b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</a:b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No GPU required.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61" name="Google Shape;1661;p3"/>
          <p:cNvGrpSpPr/>
          <p:nvPr/>
        </p:nvGrpSpPr>
        <p:grpSpPr>
          <a:xfrm>
            <a:off x="4572000" y="1905000"/>
            <a:ext cx="1714500" cy="3619500"/>
            <a:chOff x="0" y="0"/>
            <a:chExt cx="1714500" cy="3619500"/>
          </a:xfrm>
        </p:grpSpPr>
        <p:sp>
          <p:nvSpPr>
            <p:cNvPr id="1662" name="Google Shape;1662;p3"/>
            <p:cNvSpPr/>
            <p:nvPr/>
          </p:nvSpPr>
          <p:spPr>
            <a:xfrm>
              <a:off x="0" y="0"/>
              <a:ext cx="1714500" cy="3619500"/>
            </a:xfrm>
            <a:prstGeom prst="roundRect">
              <a:avLst>
                <a:gd fmla="val 4444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3"/>
            <p:cNvSpPr/>
            <p:nvPr/>
          </p:nvSpPr>
          <p:spPr>
            <a:xfrm>
              <a:off x="0" y="0"/>
              <a:ext cx="1714500" cy="57300"/>
            </a:xfrm>
            <a:prstGeom prst="roundRect">
              <a:avLst>
                <a:gd fmla="val 50000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3"/>
            <p:cNvSpPr txBox="1"/>
            <p:nvPr/>
          </p:nvSpPr>
          <p:spPr>
            <a:xfrm>
              <a:off x="142875" y="190500"/>
              <a:ext cx="1428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MACRO TIER</a:t>
              </a:r>
              <a:endParaRPr b="1" i="0" sz="14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75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F59E0B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Rare</a:t>
              </a:r>
              <a:endParaRPr b="1" i="0" sz="1600" u="none" cap="none" strike="noStrike">
                <a:solidFill>
                  <a:srgbClr val="F59E0B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Only highly complex anomalies survive to reach the largest models.</a:t>
              </a:r>
              <a:endParaRPr b="0" i="0" sz="11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292100" lvl="0" marL="45720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151515"/>
                </a:buClr>
                <a:buSzPts val="1000"/>
                <a:buFont typeface="Red Hat Display"/>
                <a:buChar char="●"/>
              </a:pPr>
              <a:r>
                <a:rPr b="0" i="0" lang="en" sz="1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Deep reasoning models</a:t>
              </a:r>
              <a:endParaRPr b="0" i="0" sz="1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Reserved for heavy cognitive tasks.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665" name="Google Shape;1665;p3"/>
          <p:cNvSpPr/>
          <p:nvPr/>
        </p:nvSpPr>
        <p:spPr>
          <a:xfrm>
            <a:off x="6572250" y="1905000"/>
            <a:ext cx="4857900" cy="3619500"/>
          </a:xfrm>
          <a:prstGeom prst="roundRect">
            <a:avLst>
              <a:gd fmla="val 2105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6" name="Google Shape;1666;p3"/>
          <p:cNvSpPr/>
          <p:nvPr/>
        </p:nvSpPr>
        <p:spPr>
          <a:xfrm>
            <a:off x="6572250" y="1905000"/>
            <a:ext cx="114300" cy="3619500"/>
          </a:xfrm>
          <a:custGeom>
            <a:rect b="b" l="l" r="r" t="t"/>
            <a:pathLst>
              <a:path extrusionOk="0" h="120000" w="120000">
                <a:moveTo>
                  <a:pt x="0" y="2526"/>
                </a:moveTo>
                <a:cubicBezTo>
                  <a:pt x="0" y="821"/>
                  <a:pt x="26000" y="0"/>
                  <a:pt x="80000" y="0"/>
                </a:cubicBezTo>
                <a:lnTo>
                  <a:pt x="120000" y="0"/>
                </a:lnTo>
                <a:lnTo>
                  <a:pt x="120000" y="120000"/>
                </a:lnTo>
                <a:lnTo>
                  <a:pt x="80000" y="120000"/>
                </a:lnTo>
                <a:cubicBezTo>
                  <a:pt x="26000" y="120000"/>
                  <a:pt x="0" y="119179"/>
                  <a:pt x="0" y="117474"/>
                </a:cubicBezTo>
                <a:close/>
              </a:path>
            </a:pathLst>
          </a:custGeom>
          <a:solidFill>
            <a:srgbClr val="EE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67" name="Google Shape;1667;p3"/>
          <p:cNvGraphicFramePr/>
          <p:nvPr/>
        </p:nvGraphicFramePr>
        <p:xfrm>
          <a:off x="6905625" y="2143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{657563CD-1CAD-44AA-9361-4EABF1BC4C98}</a:tableStyleId>
              </a:tblPr>
              <a:tblGrid>
                <a:gridCol w="1981925"/>
                <a:gridCol w="2256700"/>
              </a:tblGrid>
              <a:tr h="1571625">
                <a:tc>
                  <a:txBody>
                    <a:bodyPr/>
                    <a:lstStyle/>
                    <a:p>
                      <a:r>
                        <a:t>68.7M</a:t>
                      </a:r>
                    </a:p>
                  </a:txBody>
                  <a:tcPr marT="57150" marB="57150" marR="0" marL="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Live signals processed at 99.5% compression</a:t>
                      </a:r>
                    </a:p>
                  </a:txBody>
                  <a:tcPr marT="57150" marB="57150" marR="0" marL="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71625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T="57150" marB="57150" marR="0" marL="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t>Agents self-discovered — zero human-written rules</a:t>
                      </a:r>
                    </a:p>
                  </a:txBody>
                  <a:tcPr marT="57150" marB="57150" marR="0" marL="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Architecture</a:t>
            </a:r>
            <a:endParaRPr/>
          </a:p>
        </p:txBody>
      </p:sp>
      <p:sp>
        <p:nvSpPr>
          <p:cNvPr id="1673" name="Google Shape;1673;p4"/>
          <p:cNvSpPr txBox="1"/>
          <p:nvPr/>
        </p:nvSpPr>
        <p:spPr>
          <a:xfrm>
            <a:off x="762000" y="1333500"/>
            <a:ext cx="4191000" cy="4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" sz="36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Domain-agnostic framework. Plug in any data source.</a:t>
            </a:r>
            <a:endParaRPr b="1" i="0" sz="3600" u="none" cap="none" strike="noStrike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Deploy lightweight collectors across any enterprise platform or vertical. All events feed into the multi-stage Cascade Framework for sub-millisecond filtering, local pattern classification, and deterministic decisioning before commit.</a:t>
            </a:r>
            <a:endParaRPr b="0" i="0" sz="1400" u="none" cap="none" strike="noStrike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674" name="Google Shape;1674;p4"/>
          <p:cNvGrpSpPr/>
          <p:nvPr/>
        </p:nvGrpSpPr>
        <p:grpSpPr>
          <a:xfrm>
            <a:off x="5334000" y="1333500"/>
            <a:ext cx="5762625" cy="571500"/>
            <a:chOff x="5334000" y="1333500"/>
            <a:chExt cx="5762625" cy="571500"/>
          </a:xfrm>
        </p:grpSpPr>
        <p:sp>
          <p:nvSpPr>
            <p:cNvPr id="1675" name="Google Shape;1675;p4"/>
            <p:cNvSpPr/>
            <p:nvPr/>
          </p:nvSpPr>
          <p:spPr>
            <a:xfrm>
              <a:off x="5334000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4"/>
            <p:cNvSpPr txBox="1"/>
            <p:nvPr/>
          </p:nvSpPr>
          <p:spPr>
            <a:xfrm>
              <a:off x="5334000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K8s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b="0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77" name="Google Shape;1677;p4"/>
            <p:cNvSpPr/>
            <p:nvPr/>
          </p:nvSpPr>
          <p:spPr>
            <a:xfrm>
              <a:off x="6810375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4"/>
            <p:cNvSpPr txBox="1"/>
            <p:nvPr/>
          </p:nvSpPr>
          <p:spPr>
            <a:xfrm>
              <a:off x="6810375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AAP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b="0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79" name="Google Shape;1679;p4"/>
            <p:cNvSpPr/>
            <p:nvPr/>
          </p:nvSpPr>
          <p:spPr>
            <a:xfrm>
              <a:off x="8286750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4"/>
            <p:cNvSpPr txBox="1"/>
            <p:nvPr/>
          </p:nvSpPr>
          <p:spPr>
            <a:xfrm>
              <a:off x="8286750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Finance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Collector</a:t>
              </a:r>
              <a:endParaRPr b="0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681" name="Google Shape;1681;p4"/>
            <p:cNvSpPr/>
            <p:nvPr/>
          </p:nvSpPr>
          <p:spPr>
            <a:xfrm>
              <a:off x="9763125" y="1333500"/>
              <a:ext cx="13335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4"/>
            <p:cNvSpPr txBox="1"/>
            <p:nvPr/>
          </p:nvSpPr>
          <p:spPr>
            <a:xfrm>
              <a:off x="9763125" y="1333500"/>
              <a:ext cx="1333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+4 More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verticals</a:t>
              </a:r>
              <a:endParaRPr b="0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83" name="Google Shape;1683;p4"/>
          <p:cNvGrpSpPr/>
          <p:nvPr/>
        </p:nvGrpSpPr>
        <p:grpSpPr>
          <a:xfrm>
            <a:off x="6000750" y="1905000"/>
            <a:ext cx="4429200" cy="476250"/>
            <a:chOff x="6000750" y="1905000"/>
            <a:chExt cx="4429200" cy="476250"/>
          </a:xfrm>
        </p:grpSpPr>
        <p:sp>
          <p:nvSpPr>
            <p:cNvPr id="1684" name="Google Shape;1684;p4"/>
            <p:cNvSpPr/>
            <p:nvPr/>
          </p:nvSpPr>
          <p:spPr>
            <a:xfrm>
              <a:off x="6000750" y="1905000"/>
              <a:ext cx="4429200" cy="4572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37500"/>
                  </a:lnTo>
                  <a:lnTo>
                    <a:pt x="120000" y="37500"/>
                  </a:lnTo>
                  <a:lnTo>
                    <a:pt x="120000" y="0"/>
                  </a:lnTo>
                  <a:moveTo>
                    <a:pt x="40000" y="0"/>
                  </a:moveTo>
                  <a:lnTo>
                    <a:pt x="40000" y="37500"/>
                  </a:lnTo>
                  <a:moveTo>
                    <a:pt x="80000" y="0"/>
                  </a:moveTo>
                  <a:lnTo>
                    <a:pt x="80000" y="37500"/>
                  </a:lnTo>
                  <a:moveTo>
                    <a:pt x="60000" y="37500"/>
                  </a:moveTo>
                  <a:lnTo>
                    <a:pt x="6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9050">
              <a:solidFill>
                <a:srgbClr val="D1D5D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4"/>
            <p:cNvSpPr/>
            <p:nvPr/>
          </p:nvSpPr>
          <p:spPr>
            <a:xfrm>
              <a:off x="8172450" y="2305050"/>
              <a:ext cx="85800" cy="762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D1D5D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86" name="Google Shape;1686;p4"/>
          <p:cNvGrpSpPr/>
          <p:nvPr/>
        </p:nvGrpSpPr>
        <p:grpSpPr>
          <a:xfrm>
            <a:off x="5334000" y="2381250"/>
            <a:ext cx="5762700" cy="2381400"/>
            <a:chOff x="5334000" y="2381250"/>
            <a:chExt cx="5762700" cy="2381400"/>
          </a:xfrm>
        </p:grpSpPr>
        <p:sp>
          <p:nvSpPr>
            <p:cNvPr id="1687" name="Google Shape;1687;p4"/>
            <p:cNvSpPr/>
            <p:nvPr/>
          </p:nvSpPr>
          <p:spPr>
            <a:xfrm>
              <a:off x="5334000" y="2381250"/>
              <a:ext cx="5762700" cy="2381400"/>
            </a:xfrm>
            <a:prstGeom prst="roundRect">
              <a:avLst>
                <a:gd fmla="val 32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4"/>
            <p:cNvSpPr/>
            <p:nvPr/>
          </p:nvSpPr>
          <p:spPr>
            <a:xfrm>
              <a:off x="5334000" y="2381250"/>
              <a:ext cx="114300" cy="2381400"/>
            </a:xfrm>
            <a:custGeom>
              <a:rect b="b" l="l" r="r" t="t"/>
              <a:pathLst>
                <a:path extrusionOk="0" h="120000" w="120000">
                  <a:moveTo>
                    <a:pt x="0" y="3840"/>
                  </a:moveTo>
                  <a:cubicBezTo>
                    <a:pt x="0" y="1277"/>
                    <a:pt x="26600" y="0"/>
                    <a:pt x="80000" y="0"/>
                  </a:cubicBezTo>
                  <a:lnTo>
                    <a:pt x="120000" y="0"/>
                  </a:lnTo>
                  <a:lnTo>
                    <a:pt x="120000" y="120000"/>
                  </a:lnTo>
                  <a:lnTo>
                    <a:pt x="80000" y="120000"/>
                  </a:lnTo>
                  <a:cubicBezTo>
                    <a:pt x="26600" y="120000"/>
                    <a:pt x="0" y="118723"/>
                    <a:pt x="0" y="116160"/>
                  </a:cubicBezTo>
                  <a:close/>
                </a:path>
              </a:pathLst>
            </a:custGeom>
            <a:solidFill>
              <a:srgbClr val="EE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4"/>
            <p:cNvSpPr txBox="1"/>
            <p:nvPr/>
          </p:nvSpPr>
          <p:spPr>
            <a:xfrm>
              <a:off x="5619750" y="2571750"/>
              <a:ext cx="51912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CASCADE FRAMEWORK</a:t>
              </a:r>
              <a:endParaRPr b="1" i="0" sz="10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1: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Dedup Transient Severity Gate 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2: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Pattern Classifier Threshold 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Stage 3: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Learned Agents </a:t>
              </a: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(self-discovered)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</a:t>
              </a: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(microseconds)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10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Survivors (0.5 - 15%)</a:t>
              </a:r>
              <a:endParaRPr b="1" i="0" sz="11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10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Granite 8B on Xeon 6 CPU </a:t>
              </a:r>
              <a:r>
                <a:rPr b="0" i="0" lang="en" sz="1100" u="none" cap="none" strike="noStrike">
                  <a:solidFill>
                    <a:srgbClr val="FFFFFF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(sub-second)</a:t>
              </a:r>
              <a:endParaRPr b="1" i="0" sz="1200" u="none" cap="none" strike="noStrike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690" name="Google Shape;1690;p4"/>
          <p:cNvGrpSpPr/>
          <p:nvPr/>
        </p:nvGrpSpPr>
        <p:grpSpPr>
          <a:xfrm>
            <a:off x="8172450" y="4762500"/>
            <a:ext cx="85800" cy="285750"/>
            <a:chOff x="8172450" y="4762500"/>
            <a:chExt cx="85800" cy="285750"/>
          </a:xfrm>
        </p:grpSpPr>
        <p:cxnSp>
          <p:nvCxnSpPr>
            <p:cNvPr id="1691" name="Google Shape;1691;p4"/>
            <p:cNvCxnSpPr/>
            <p:nvPr/>
          </p:nvCxnSpPr>
          <p:spPr>
            <a:xfrm>
              <a:off x="8215313" y="4762500"/>
              <a:ext cx="0" cy="26670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D1D5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692" name="Google Shape;1692;p4"/>
            <p:cNvSpPr/>
            <p:nvPr/>
          </p:nvSpPr>
          <p:spPr>
            <a:xfrm>
              <a:off x="8172450" y="4972050"/>
              <a:ext cx="85800" cy="76200"/>
            </a:xfrm>
            <a:custGeom>
              <a:rect b="b" l="l" r="r" t="t"/>
              <a:pathLst>
                <a:path extrusionOk="0" h="120000" w="120000">
                  <a:moveTo>
                    <a:pt x="60000" y="120000"/>
                  </a:moveTo>
                  <a:lnTo>
                    <a:pt x="0" y="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D1D5D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93" name="Google Shape;1693;p4"/>
          <p:cNvGrpSpPr/>
          <p:nvPr/>
        </p:nvGrpSpPr>
        <p:grpSpPr>
          <a:xfrm>
            <a:off x="6305550" y="5048250"/>
            <a:ext cx="3810000" cy="571500"/>
            <a:chOff x="6305550" y="5048250"/>
            <a:chExt cx="3810000" cy="571500"/>
          </a:xfrm>
        </p:grpSpPr>
        <p:sp>
          <p:nvSpPr>
            <p:cNvPr id="1694" name="Google Shape;1694;p4"/>
            <p:cNvSpPr/>
            <p:nvPr/>
          </p:nvSpPr>
          <p:spPr>
            <a:xfrm>
              <a:off x="6305550" y="5048250"/>
              <a:ext cx="3810000" cy="571500"/>
            </a:xfrm>
            <a:prstGeom prst="roundRect">
              <a:avLst>
                <a:gd fmla="val 10000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4"/>
            <p:cNvSpPr txBox="1"/>
            <p:nvPr/>
          </p:nvSpPr>
          <p:spPr>
            <a:xfrm>
              <a:off x="6305550" y="5048250"/>
              <a:ext cx="381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Immutable Ledger + GCL</a:t>
              </a:r>
              <a:endParaRPr b="1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governance (optional)</a:t>
              </a:r>
              <a:endParaRPr b="0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9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5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Benchmark Results</a:t>
            </a:r>
            <a:endParaRPr/>
          </a:p>
        </p:txBody>
      </p:sp>
      <p:sp>
        <p:nvSpPr>
          <p:cNvPr id="1701" name="Google Shape;1701;p5"/>
          <p:cNvSpPr txBox="1"/>
          <p:nvPr>
            <p:ph type="title"/>
          </p:nvPr>
        </p:nvSpPr>
        <p:spPr>
          <a:xfrm>
            <a:off x="861750" y="2361550"/>
            <a:ext cx="10468500" cy="138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b="1" lang="en" sz="3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Same framework. Seven domains.</a:t>
            </a:r>
            <a:endParaRPr b="1" sz="34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b="1" lang="en" sz="34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Zero engine changes.</a:t>
            </a:r>
            <a:endParaRPr b="1" sz="3400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02" name="Google Shape;1702;p5"/>
          <p:cNvGrpSpPr/>
          <p:nvPr/>
        </p:nvGrpSpPr>
        <p:grpSpPr>
          <a:xfrm>
            <a:off x="4191000" y="3747850"/>
            <a:ext cx="3810000" cy="2095500"/>
            <a:chOff x="0" y="0"/>
            <a:chExt cx="3810000" cy="2095500"/>
          </a:xfrm>
        </p:grpSpPr>
        <p:sp>
          <p:nvSpPr>
            <p:cNvPr id="1703" name="Google Shape;1703;p5"/>
            <p:cNvSpPr/>
            <p:nvPr/>
          </p:nvSpPr>
          <p:spPr>
            <a:xfrm>
              <a:off x="0" y="0"/>
              <a:ext cx="3810000" cy="2095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5"/>
            <p:cNvSpPr txBox="1"/>
            <p:nvPr/>
          </p:nvSpPr>
          <p:spPr>
            <a:xfrm>
              <a:off x="0" y="0"/>
              <a:ext cx="3810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Cold-start numbers are the floor. The cascade learns from LLM feedback and improves daily.</a:t>
              </a:r>
              <a:endParaRPr b="1" i="0" sz="12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Precision: </a:t>
              </a: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100%</a:t>
              </a:r>
              <a:r>
                <a:rPr b="0" i="0" lang="en" sz="12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— all 30 sampled important signals confirmed genuinely important.</a:t>
              </a:r>
              <a:endParaRPr b="0" i="0" sz="12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8" name="Shape 1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09" name="Google Shape;1709;p6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0" name="Google Shape;1710;p6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11" name="Google Shape;1711;p6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12" name="Google Shape;1712;p62"/>
          <p:cNvSpPr txBox="1"/>
          <p:nvPr>
            <p:ph type="title"/>
          </p:nvPr>
        </p:nvSpPr>
        <p:spPr>
          <a:xfrm>
            <a:off x="885050" y="1100347"/>
            <a:ext cx="10422000" cy="553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b="1" lang="en" sz="2590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The economics change when 99% of signals don't need inference</a:t>
            </a:r>
            <a:endParaRPr b="1" sz="2590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13" name="Google Shape;1713;p62"/>
          <p:cNvGrpSpPr/>
          <p:nvPr/>
        </p:nvGrpSpPr>
        <p:grpSpPr>
          <a:xfrm>
            <a:off x="447775" y="55441"/>
            <a:ext cx="5148900" cy="816300"/>
            <a:chOff x="0" y="0"/>
            <a:chExt cx="5148900" cy="816300"/>
          </a:xfrm>
        </p:grpSpPr>
        <p:sp>
          <p:nvSpPr>
            <p:cNvPr id="1714" name="Google Shape;1714;p62"/>
            <p:cNvSpPr/>
            <p:nvPr/>
          </p:nvSpPr>
          <p:spPr>
            <a:xfrm>
              <a:off x="0" y="0"/>
              <a:ext cx="5148900" cy="81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62"/>
            <p:cNvSpPr txBox="1"/>
            <p:nvPr/>
          </p:nvSpPr>
          <p:spPr>
            <a:xfrm>
              <a:off x="0" y="0"/>
              <a:ext cx="5148900" cy="81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438875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EE0000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Total Cost of Ownership</a:t>
              </a:r>
              <a:endParaRPr b="0" i="0" sz="1000" u="none" cap="none" strike="noStrike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grpSp>
        <p:nvGrpSpPr>
          <p:cNvPr id="1716" name="Google Shape;1716;p62"/>
          <p:cNvGrpSpPr/>
          <p:nvPr/>
        </p:nvGrpSpPr>
        <p:grpSpPr>
          <a:xfrm>
            <a:off x="885050" y="1905000"/>
            <a:ext cx="4286400" cy="3810000"/>
            <a:chOff x="0" y="0"/>
            <a:chExt cx="4286400" cy="3810000"/>
          </a:xfrm>
        </p:grpSpPr>
        <p:sp>
          <p:nvSpPr>
            <p:cNvPr id="1717" name="Google Shape;1717;p62"/>
            <p:cNvSpPr/>
            <p:nvPr/>
          </p:nvSpPr>
          <p:spPr>
            <a:xfrm>
              <a:off x="0" y="0"/>
              <a:ext cx="4286400" cy="3810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62"/>
            <p:cNvSpPr txBox="1"/>
            <p:nvPr/>
          </p:nvSpPr>
          <p:spPr>
            <a:xfrm>
              <a:off x="0" y="0"/>
              <a:ext cx="42864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" sz="2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3-Year TCO — 10M signals/day</a:t>
              </a:r>
              <a:endParaRPr b="1" i="0" sz="2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One Xeon 6 server at 13% utilization runs the entire system.</a:t>
              </a:r>
              <a:endParaRPr b="1" i="0" sz="15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The cascade makes CPU viable because the LLM barely runs.</a:t>
              </a:r>
              <a:endParaRPr b="0" i="0" sz="12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At 99.5% compression, 10M signals → 50K LLM calls. No GPU required.</a:t>
              </a:r>
              <a:endParaRPr b="0" i="0" sz="12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sp>
        <p:nvSpPr>
          <p:cNvPr id="1719" name="Google Shape;1719;p62"/>
          <p:cNvSpPr/>
          <p:nvPr/>
        </p:nvSpPr>
        <p:spPr>
          <a:xfrm>
            <a:off x="5524500" y="1905000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4FDF7"/>
          </a:solidFill>
          <a:ln cap="flat" cmpd="sng" w="14300">
            <a:solidFill>
              <a:srgbClr val="A7F3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0" name="Google Shape;1720;p62"/>
          <p:cNvSpPr/>
          <p:nvPr/>
        </p:nvSpPr>
        <p:spPr>
          <a:xfrm>
            <a:off x="5524500" y="1905000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21" name="Google Shape;1721;p62"/>
          <p:cNvGraphicFramePr/>
          <p:nvPr/>
        </p:nvGraphicFramePr>
        <p:xfrm>
          <a:off x="5524500" y="1905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{657563CD-1CAD-44AA-9361-4EABF1BC4C98}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" sz="1800" u="none" cap="none" strike="noStrike">
                          <a:solidFill>
                            <a:srgbClr val="22C55E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Cascade on Xeon 6</a:t>
                      </a:r>
                      <a:endParaRPr b="1" sz="1800" u="none" cap="none" strike="noStrike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t/>
                      </a:r>
                      <a:endParaRPr b="1" sz="2600" u="none" cap="none" strike="noStrike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b="1" lang="en" sz="2600" u="none" cap="none" strike="noStrike">
                          <a:solidFill>
                            <a:srgbClr val="22C55E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$33K</a:t>
                      </a:r>
                      <a:endParaRPr b="1" sz="2600" u="none" cap="none" strike="noStrike">
                        <a:solidFill>
                          <a:srgbClr val="22C55E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t>13 CPU, 13 GB, 1200W</a:t>
                      </a:r>
                    </a:p>
                  </a:txBody>
                  <a:tcPr marT="0" marB="0" marR="190500" marL="0"/>
                </a:tc>
              </a:tr>
            </a:tbl>
          </a:graphicData>
        </a:graphic>
      </p:graphicFrame>
      <p:sp>
        <p:nvSpPr>
          <p:cNvPr id="1722" name="Google Shape;1722;p62"/>
          <p:cNvSpPr/>
          <p:nvPr/>
        </p:nvSpPr>
        <p:spPr>
          <a:xfrm>
            <a:off x="5524500" y="3095625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3" name="Google Shape;1723;p62"/>
          <p:cNvSpPr/>
          <p:nvPr/>
        </p:nvSpPr>
        <p:spPr>
          <a:xfrm>
            <a:off x="5524500" y="3095625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24" name="Google Shape;1724;p62"/>
          <p:cNvGraphicFramePr/>
          <p:nvPr/>
        </p:nvGraphicFramePr>
        <p:xfrm>
          <a:off x="5524500" y="3095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{657563CD-1CAD-44AA-9361-4EABF1BC4C98}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" sz="1800" u="none" cap="none" strike="noStrike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GPU inference (H100)</a:t>
                      </a:r>
                      <a:endParaRPr b="1" sz="18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t/>
                      </a:r>
                      <a:endParaRPr b="1" sz="26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b="1" lang="en" sz="2600" u="none" cap="none" strike="noStrike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$266K</a:t>
                      </a:r>
                      <a:endParaRPr b="1" sz="26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r>
                        <a:t>1 GPU card, 80 GB HBM, 6000W</a:t>
                      </a:r>
                    </a:p>
                  </a:txBody>
                  <a:tcPr marT="0" marB="0" marR="190500" marL="0"/>
                </a:tc>
              </a:tr>
            </a:tbl>
          </a:graphicData>
        </a:graphic>
      </p:graphicFrame>
      <p:sp>
        <p:nvSpPr>
          <p:cNvPr id="1725" name="Google Shape;1725;p62"/>
          <p:cNvSpPr/>
          <p:nvPr/>
        </p:nvSpPr>
        <p:spPr>
          <a:xfrm>
            <a:off x="5524500" y="4286250"/>
            <a:ext cx="5810400" cy="1047900"/>
          </a:xfrm>
          <a:prstGeom prst="roundRect">
            <a:avLst>
              <a:gd fmla="val 7272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6" name="Google Shape;1726;p62"/>
          <p:cNvSpPr/>
          <p:nvPr/>
        </p:nvSpPr>
        <p:spPr>
          <a:xfrm>
            <a:off x="5524500" y="4286250"/>
            <a:ext cx="58104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27" name="Google Shape;1727;p62"/>
          <p:cNvGraphicFramePr/>
          <p:nvPr/>
        </p:nvGraphicFramePr>
        <p:xfrm>
          <a:off x="5524500" y="4286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{657563CD-1CAD-44AA-9361-4EABF1BC4C98}</a:tableStyleId>
              </a:tblPr>
              <a:tblGrid>
                <a:gridCol w="1936750"/>
                <a:gridCol w="1936750"/>
                <a:gridCol w="1936750"/>
              </a:tblGrid>
              <a:tr h="1047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" sz="1800" u="none" cap="none" strike="noStrike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Cloud API</a:t>
                      </a:r>
                      <a:endParaRPr b="1" sz="18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0" marL="1905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t/>
                      </a:r>
                      <a:endParaRPr b="1" sz="26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600"/>
                        <a:buFont typeface="Arial"/>
                        <a:buNone/>
                      </a:pPr>
                      <a:r>
                        <a:rPr b="1" lang="en" sz="2600" u="none" cap="none" strike="noStrike">
                          <a:solidFill>
                            <a:srgbClr val="151515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$540K</a:t>
                      </a:r>
                      <a:endParaRPr b="1" sz="2600" u="none" cap="none" strike="noStrike">
                        <a:solidFill>
                          <a:srgbClr val="151515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solidFill>
                            <a:srgbClr val="4B5563"/>
                          </a:solidFill>
                          <a:latin typeface="Red Hat Display"/>
                          <a:ea typeface="Red Hat Display"/>
                          <a:cs typeface="Red Hat Display"/>
                          <a:sym typeface="Red Hat Display"/>
                        </a:rPr>
                        <a:t>$15K/month</a:t>
                      </a:r>
                      <a:endParaRPr sz="1200" u="none" cap="none" strike="noStrike">
                        <a:solidFill>
                          <a:srgbClr val="4B5563"/>
                        </a:solidFill>
                        <a:latin typeface="Red Hat Display"/>
                        <a:ea typeface="Red Hat Display"/>
                        <a:cs typeface="Red Hat Display"/>
                        <a:sym typeface="Red Hat Display"/>
                      </a:endParaRPr>
                    </a:p>
                  </a:txBody>
                  <a:tcPr marT="0" marB="0" marR="190500" marL="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1" name="Shape 1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2" name="Google Shape;1732;p6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3" name="Google Shape;1733;p6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34" name="Google Shape;1734;p6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35" name="Google Shape;1735;p6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Model Benchmarks (Xeon 6 CPU)</a:t>
            </a:r>
            <a:endParaRPr/>
          </a:p>
        </p:txBody>
      </p:sp>
      <p:sp>
        <p:nvSpPr>
          <p:cNvPr id="1736" name="Google Shape;1736;p61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737" name="Google Shape;1737;p61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738" name="Google Shape;1738;p61"/>
          <p:cNvSpPr txBox="1"/>
          <p:nvPr/>
        </p:nvSpPr>
        <p:spPr>
          <a:xfrm>
            <a:off x="762000" y="1190625"/>
            <a:ext cx="4572000" cy="47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" sz="28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CPU inference is fast enough when 99% of signals don't need it</a:t>
            </a:r>
            <a:endParaRPr b="1" i="0" sz="2800" u="none" cap="none" strike="noStrike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51515"/>
                </a:solidFill>
                <a:highlight>
                  <a:srgbClr val="F8F9FA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100% Deterministic</a:t>
            </a:r>
            <a:endParaRPr b="1" i="0" sz="1200" u="none" cap="none" strike="noStrike">
              <a:solidFill>
                <a:srgbClr val="151515"/>
              </a:solidFill>
              <a:highlight>
                <a:srgbClr val="F8F9FA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highlight>
                  <a:srgbClr val="F8F9FA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Same input, same output, every time at temp=0.</a:t>
            </a:r>
            <a:endParaRPr b="0" i="0" sz="1100" u="none" cap="none" strike="noStrike">
              <a:solidFill>
                <a:srgbClr val="6B7280"/>
              </a:solidFill>
              <a:highlight>
                <a:srgbClr val="F8F9FA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0071C5"/>
                </a:solidFill>
                <a:highlight>
                  <a:srgbClr val="F0F7FD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Prompt Tuning</a:t>
            </a:r>
            <a:endParaRPr b="1" i="0" sz="1200" u="none" cap="none" strike="noStrike">
              <a:solidFill>
                <a:srgbClr val="0071C5"/>
              </a:solidFill>
              <a:highlight>
                <a:srgbClr val="F0F7FD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K8s noise rate 0.9% → 42.4% with zero false negatives.</a:t>
            </a:r>
            <a:endParaRPr b="0" i="0" sz="1100" u="none" cap="none" strike="noStrike">
              <a:solidFill>
                <a:srgbClr val="6B728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Precision Audit: 100%</a:t>
            </a:r>
            <a:endParaRPr b="1" i="0" sz="1200" u="none" cap="none" strike="noStrike">
              <a:solidFill>
                <a:srgbClr val="22C55E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highlight>
                  <a:srgbClr val="F4FDF7"/>
                </a:highlight>
                <a:latin typeface="Red Hat Display"/>
                <a:ea typeface="Red Hat Display"/>
                <a:cs typeface="Red Hat Display"/>
                <a:sym typeface="Red Hat Display"/>
              </a:rPr>
              <a:t>Every signal Granite called important WAS important.</a:t>
            </a:r>
            <a:endParaRPr b="0" i="0" sz="1100" u="none" cap="none" strike="noStrike">
              <a:solidFill>
                <a:srgbClr val="6B7280"/>
              </a:solidFill>
              <a:highlight>
                <a:srgbClr val="F4FDF7"/>
              </a:highlight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39" name="Google Shape;1739;p61"/>
          <p:cNvSpPr/>
          <p:nvPr/>
        </p:nvSpPr>
        <p:spPr>
          <a:xfrm>
            <a:off x="4735725" y="1333500"/>
            <a:ext cx="6694200" cy="4000500"/>
          </a:xfrm>
          <a:prstGeom prst="roundRect">
            <a:avLst>
              <a:gd fmla="val 1904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740" name="Google Shape;1740;p61"/>
          <p:cNvGraphicFramePr/>
          <p:nvPr/>
        </p:nvGraphicFramePr>
        <p:xfrm>
          <a:off x="4735725" y="1524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{657563CD-1CAD-44AA-9361-4EABF1BC4C98}</a:tableStyleId>
              </a:tblPr>
              <a:tblGrid>
                <a:gridCol w="2236575"/>
                <a:gridCol w="1066800"/>
                <a:gridCol w="1033850"/>
                <a:gridCol w="1099750"/>
                <a:gridCol w="1066800"/>
              </a:tblGrid>
              <a:tr h="723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6B7280"/>
                          </a:solidFill>
                        </a:rPr>
                        <a:t>Model</a:t>
                      </a:r>
                      <a:endParaRPr b="1"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6B7280"/>
                          </a:solidFill>
                        </a:rPr>
                        <a:t>Score</a:t>
                      </a:r>
                      <a:endParaRPr b="1"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6B7280"/>
                          </a:solidFill>
                        </a:rPr>
                        <a:t>Latency</a:t>
                      </a:r>
                      <a:endParaRPr b="1"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6B7280"/>
                          </a:solidFill>
                        </a:rPr>
                        <a:t>Dangerous</a:t>
                      </a:r>
                      <a:endParaRPr b="1"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6B7280"/>
                          </a:solidFill>
                        </a:rPr>
                        <a:t>Platform</a:t>
                      </a:r>
                      <a:endParaRPr b="1"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14300" marB="114300" marR="76200" marL="76200"/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151515"/>
                          </a:solidFill>
                        </a:rPr>
                        <a:t>granite-3-2-8b-instruct</a:t>
                      </a:r>
                      <a:endParaRPr b="1"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14/20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860ms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22C55E"/>
                          </a:solidFill>
                        </a:rPr>
                        <a:t>0</a:t>
                      </a:r>
                      <a:endParaRPr b="1" sz="1400" u="none" cap="none" strike="noStrike">
                        <a:solidFill>
                          <a:srgbClr val="22C55E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6B7280"/>
                          </a:solidFill>
                        </a:rPr>
                        <a:t>racmaas CPU</a:t>
                      </a:r>
                      <a:endParaRPr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151515"/>
                          </a:solidFill>
                        </a:rPr>
                        <a:t>phi4-mini (3.8B)</a:t>
                      </a:r>
                      <a:endParaRPr b="1"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14/20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734ms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22C55E"/>
                          </a:solidFill>
                        </a:rPr>
                        <a:t>0</a:t>
                      </a:r>
                      <a:endParaRPr b="1" sz="1400" u="none" cap="none" strike="noStrike">
                        <a:solidFill>
                          <a:srgbClr val="22C55E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6B7280"/>
                          </a:solidFill>
                        </a:rPr>
                        <a:t>Oberon CPU</a:t>
                      </a:r>
                      <a:endParaRPr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151515"/>
                          </a:solidFill>
                        </a:rPr>
                        <a:t>granite-4.1-3b</a:t>
                      </a:r>
                      <a:endParaRPr b="1"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14/20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888ms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EE0000"/>
                          </a:solidFill>
                        </a:rPr>
                        <a:t>3</a:t>
                      </a:r>
                      <a:endParaRPr b="1" sz="1400" u="none" cap="none" strike="noStrike">
                        <a:solidFill>
                          <a:srgbClr val="EE000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6B7280"/>
                          </a:solidFill>
                        </a:rPr>
                        <a:t>Oberon CPU</a:t>
                      </a:r>
                      <a:endParaRPr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151515"/>
                          </a:solidFill>
                        </a:rPr>
                        <a:t>granite-2b</a:t>
                      </a:r>
                      <a:endParaRPr b="1"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13/20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151515"/>
                          </a:solidFill>
                        </a:rPr>
                        <a:t>677ms</a:t>
                      </a:r>
                      <a:endParaRPr sz="1400" u="none" cap="none" strike="noStrike">
                        <a:solidFill>
                          <a:srgbClr val="151515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>
                          <a:solidFill>
                            <a:srgbClr val="EE0000"/>
                          </a:solidFill>
                        </a:rPr>
                        <a:t>1</a:t>
                      </a:r>
                      <a:endParaRPr b="1" sz="1400" u="none" cap="none" strike="noStrike">
                        <a:solidFill>
                          <a:srgbClr val="EE000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solidFill>
                            <a:srgbClr val="6B7280"/>
                          </a:solidFill>
                        </a:rPr>
                        <a:t>racmaas CPU</a:t>
                      </a:r>
                      <a:endParaRPr sz="1400" u="none" cap="none" strike="noStrike">
                        <a:solidFill>
                          <a:srgbClr val="6B7280"/>
                        </a:solidFill>
                      </a:endParaRPr>
                    </a:p>
                  </a:txBody>
                  <a:tcPr marT="133350" marB="133350" marR="76200" marL="76200">
                    <a:lnT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4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6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438875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i="0" lang="en" sz="1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How It Works</a:t>
            </a:r>
            <a:endParaRPr b="0" i="0" sz="1000">
              <a:solidFill>
                <a:srgbClr val="EE0000"/>
              </a:solidFill>
              <a:latin typeface="Red Hat Display Medium"/>
              <a:ea typeface="Red Hat Display Medium"/>
              <a:cs typeface="Red Hat Display Medium"/>
              <a:sym typeface="Red Hat Display Medium"/>
            </a:endParaRPr>
          </a:p>
        </p:txBody>
      </p:sp>
      <p:sp>
        <p:nvSpPr>
          <p:cNvPr id="1746" name="Google Shape;1746;p63"/>
          <p:cNvSpPr txBox="1"/>
          <p:nvPr>
            <p:ph type="title"/>
          </p:nvPr>
        </p:nvSpPr>
        <p:spPr>
          <a:xfrm>
            <a:off x="888850" y="1111772"/>
            <a:ext cx="10422000" cy="553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</a:pPr>
            <a:r>
              <a:rPr b="1" lang="en" sz="2600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Collector + Prompt + Data. That's a </a:t>
            </a:r>
            <a:r>
              <a:rPr b="1" lang="en" sz="26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domain pack.</a:t>
            </a:r>
            <a:endParaRPr b="1" sz="2600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47" name="Google Shape;1747;p63"/>
          <p:cNvGrpSpPr/>
          <p:nvPr/>
        </p:nvGrpSpPr>
        <p:grpSpPr>
          <a:xfrm>
            <a:off x="884873" y="1827625"/>
            <a:ext cx="3286203" cy="4125575"/>
            <a:chOff x="0" y="-77375"/>
            <a:chExt cx="3286203" cy="4125575"/>
          </a:xfrm>
        </p:grpSpPr>
        <p:sp>
          <p:nvSpPr>
            <p:cNvPr id="1748" name="Google Shape;1748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63"/>
            <p:cNvSpPr txBox="1"/>
            <p:nvPr/>
          </p:nvSpPr>
          <p:spPr>
            <a:xfrm>
              <a:off x="3" y="-77375"/>
              <a:ext cx="3286200" cy="304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228600" lIns="228600" spcFirstLastPara="1" rIns="228600" wrap="square" tIns="2286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Three things per domain:</a:t>
              </a:r>
              <a:endParaRPr b="1" i="0" sz="15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1. Collector</a:t>
              </a:r>
              <a:endParaRPr b="1" i="0" sz="12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Reads your data source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2. Prompt</a:t>
              </a:r>
              <a:endParaRPr b="1" i="0" sz="12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One paragraph. Four buckets.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3. Historical data</a:t>
              </a:r>
              <a:endParaRPr b="1" i="0" sz="12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Replay to bootstrap. Smart on day one.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framework changes.</a:t>
              </a:r>
              <a:endParaRPr b="1" i="0" sz="11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rules to write.</a:t>
              </a:r>
              <a:endParaRPr b="1" i="0" sz="11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• No GPU to buy.</a:t>
              </a:r>
              <a:endParaRPr b="1" i="0" sz="11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50" name="Google Shape;1750;p63"/>
          <p:cNvGrpSpPr/>
          <p:nvPr/>
        </p:nvGrpSpPr>
        <p:grpSpPr>
          <a:xfrm>
            <a:off x="4456747" y="1905000"/>
            <a:ext cx="3286200" cy="4048200"/>
            <a:chOff x="0" y="0"/>
            <a:chExt cx="3286200" cy="4048200"/>
          </a:xfrm>
        </p:grpSpPr>
        <p:sp>
          <p:nvSpPr>
            <p:cNvPr id="1751" name="Google Shape;1751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63"/>
            <p:cNvSpPr txBox="1"/>
            <p:nvPr/>
          </p:nvSpPr>
          <p:spPr>
            <a:xfrm>
              <a:off x="0" y="0"/>
              <a:ext cx="3286200" cy="404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Live AAP timeline:</a:t>
              </a:r>
              <a:endParaRPr b="1" i="0" sz="15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8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T+0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Zero agents. All to LLM.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T+5min</a:t>
              </a:r>
              <a:endParaRPr b="1" i="0" sz="11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92% dominant type detected.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T+15min</a:t>
              </a:r>
              <a:endParaRPr b="1" i="0" sz="1100" u="none" cap="none" strike="noStrike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Agent promoted. Activated.</a:t>
              </a:r>
              <a:endParaRPr b="0" i="0" sz="1100" u="none" cap="none" strike="noStrike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T+60min</a:t>
              </a:r>
              <a:endParaRPr b="1" i="0" sz="1100" u="none" cap="none" strike="noStrike">
                <a:solidFill>
                  <a:srgbClr val="22C55E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5 agents. 96% compression.</a:t>
              </a:r>
              <a:endParaRPr b="1" i="0" sz="1100" u="none" cap="none" strike="noStrike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53" name="Google Shape;1753;p63"/>
          <p:cNvGrpSpPr/>
          <p:nvPr/>
        </p:nvGrpSpPr>
        <p:grpSpPr>
          <a:xfrm>
            <a:off x="8028623" y="1905000"/>
            <a:ext cx="3286200" cy="4048200"/>
            <a:chOff x="0" y="0"/>
            <a:chExt cx="3286200" cy="4048200"/>
          </a:xfrm>
        </p:grpSpPr>
        <p:sp>
          <p:nvSpPr>
            <p:cNvPr id="1754" name="Google Shape;1754;p63"/>
            <p:cNvSpPr/>
            <p:nvPr/>
          </p:nvSpPr>
          <p:spPr>
            <a:xfrm>
              <a:off x="0" y="0"/>
              <a:ext cx="3286200" cy="4048200"/>
            </a:xfrm>
            <a:prstGeom prst="roundRect">
              <a:avLst>
                <a:gd fmla="val 2318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5" name="Google Shape;1755;p63"/>
            <p:cNvSpPr txBox="1"/>
            <p:nvPr/>
          </p:nvSpPr>
          <p:spPr>
            <a:xfrm>
              <a:off x="0" y="0"/>
              <a:ext cx="3286200" cy="404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Live K8s over 24 hours:</a:t>
              </a:r>
              <a:endParaRPr b="1" i="0" sz="15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80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" sz="2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68.7M</a:t>
              </a:r>
              <a:endParaRPr b="1" i="0" sz="2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signals processed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" sz="20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23</a:t>
              </a:r>
              <a:endParaRPr b="1" i="0" sz="20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agents self-discovered</a:t>
              </a:r>
              <a:endParaRPr b="0" i="0" sz="11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4B5563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• 37 total, all green on rubric</a:t>
              </a:r>
              <a:endParaRPr b="0" i="0" sz="1200" u="none" cap="none" strike="noStrike">
                <a:solidFill>
                  <a:srgbClr val="4B5563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" sz="1400" u="none" cap="none" strike="noStrike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99.5% </a:t>
              </a:r>
              <a:r>
                <a:rPr b="0" i="0" lang="en" sz="1100" u="none" cap="none" strike="noStrike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compression</a:t>
              </a:r>
              <a:endParaRPr b="1" i="0" sz="1400" u="none" cap="none" strike="noStrike">
                <a:solidFill>
                  <a:srgbClr val="065F46"/>
                </a:solidFill>
                <a:highlight>
                  <a:srgbClr val="D1FAE5"/>
                </a:highlight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0 </a:t>
              </a:r>
              <a:r>
                <a:rPr b="0" i="0" lang="en" sz="1100" u="none" cap="none" strike="noStrike">
                  <a:solidFill>
                    <a:srgbClr val="065F46"/>
                  </a:solidFill>
                  <a:highlight>
                    <a:srgbClr val="D1FAE5"/>
                  </a:highlight>
                  <a:latin typeface="Red Hat Display"/>
                  <a:ea typeface="Red Hat Display"/>
                  <a:cs typeface="Red Hat Display"/>
                  <a:sym typeface="Red Hat Display"/>
                </a:rPr>
                <a:t>false negatives</a:t>
              </a:r>
              <a:endParaRPr b="1" i="0" sz="1100" u="none" cap="none" strike="noStrike">
                <a:solidFill>
                  <a:srgbClr val="065F46"/>
                </a:solidFill>
                <a:highlight>
                  <a:srgbClr val="D1FAE5"/>
                </a:highlight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9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60" name="Google Shape;1760;p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61" name="Google Shape;1761;p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62" name="Google Shape;1762;p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3" name="Google Shape;1763;p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Governance (Regulated Industries)</a:t>
            </a:r>
            <a:endParaRPr/>
          </a:p>
        </p:txBody>
      </p:sp>
      <p:sp>
        <p:nvSpPr>
          <p:cNvPr id="1764" name="Google Shape;1764;p6"/>
          <p:cNvSpPr txBox="1"/>
          <p:nvPr/>
        </p:nvSpPr>
        <p:spPr>
          <a:xfrm>
            <a:off x="885050" y="1524000"/>
            <a:ext cx="4191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i="0" lang="en" sz="38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Optional audit trail for regulated industries.</a:t>
            </a:r>
            <a:endParaRPr b="1" i="0" sz="3800" u="none" cap="none" strike="noStrike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i="0" lang="en" sz="38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Hash-chained decision log + independent LLM audit probe. Details on request.</a:t>
            </a:r>
            <a:endParaRPr b="1" i="0" sz="3800" u="none" cap="none" strike="noStrike">
              <a:solidFill>
                <a:srgbClr val="151515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765" name="Google Shape;1765;p6"/>
          <p:cNvGrpSpPr/>
          <p:nvPr/>
        </p:nvGrpSpPr>
        <p:grpSpPr>
          <a:xfrm>
            <a:off x="885050" y="4000500"/>
            <a:ext cx="4191000" cy="1428900"/>
            <a:chOff x="0" y="0"/>
            <a:chExt cx="4191000" cy="1428900"/>
          </a:xfrm>
        </p:grpSpPr>
        <p:sp>
          <p:nvSpPr>
            <p:cNvPr id="1766" name="Google Shape;1766;p6"/>
            <p:cNvSpPr/>
            <p:nvPr/>
          </p:nvSpPr>
          <p:spPr>
            <a:xfrm>
              <a:off x="0" y="0"/>
              <a:ext cx="4191000" cy="1428900"/>
            </a:xfrm>
            <a:prstGeom prst="roundRect">
              <a:avLst>
                <a:gd fmla="val 5333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6"/>
            <p:cNvSpPr txBox="1"/>
            <p:nvPr/>
          </p:nvSpPr>
          <p:spPr>
            <a:xfrm>
              <a:off x="0" y="0"/>
              <a:ext cx="4191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" sz="11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System Overhead</a:t>
              </a:r>
              <a:endParaRPr b="1" i="0" sz="11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1" i="0" lang="en" sz="24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+3.5 CPU / +2.8 GB</a:t>
              </a:r>
              <a:endParaRPr b="1" i="0" sz="24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(27% allocation for full auditability)</a:t>
              </a:r>
              <a:endParaRPr b="0" i="0" sz="1200" u="none" cap="none" strike="noStrike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grpSp>
        <p:nvGrpSpPr>
          <p:cNvPr id="1768" name="Google Shape;1768;p6"/>
          <p:cNvGrpSpPr/>
          <p:nvPr/>
        </p:nvGrpSpPr>
        <p:grpSpPr>
          <a:xfrm>
            <a:off x="5524500" y="1524000"/>
            <a:ext cx="5715000" cy="1047900"/>
            <a:chOff x="0" y="0"/>
            <a:chExt cx="5715000" cy="1047900"/>
          </a:xfrm>
        </p:grpSpPr>
        <p:sp>
          <p:nvSpPr>
            <p:cNvPr id="1769" name="Google Shape;1769;p6"/>
            <p:cNvSpPr/>
            <p:nvPr/>
          </p:nvSpPr>
          <p:spPr>
            <a:xfrm>
              <a:off x="0" y="0"/>
              <a:ext cx="5715000" cy="1047900"/>
            </a:xfrm>
            <a:prstGeom prst="roundRect">
              <a:avLst>
                <a:gd fmla="val 7272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6"/>
            <p:cNvSpPr txBox="1"/>
            <p:nvPr/>
          </p:nvSpPr>
          <p:spPr>
            <a:xfrm>
              <a:off x="0" y="0"/>
              <a:ext cx="5715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01 </a:t>
              </a:r>
              <a:r>
                <a:rPr b="1" i="0" lang="en" sz="16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Cascade decides</a:t>
              </a:r>
              <a:endParaRPr b="1" i="0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Primary decision engine compresses and routes signals dynamically.</a:t>
              </a:r>
              <a:endParaRPr b="0" i="0" sz="12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71" name="Google Shape;1771;p6"/>
          <p:cNvGrpSpPr/>
          <p:nvPr/>
        </p:nvGrpSpPr>
        <p:grpSpPr>
          <a:xfrm>
            <a:off x="5524500" y="2762250"/>
            <a:ext cx="5715000" cy="1238400"/>
            <a:chOff x="0" y="0"/>
            <a:chExt cx="5715000" cy="1238400"/>
          </a:xfrm>
        </p:grpSpPr>
        <p:sp>
          <p:nvSpPr>
            <p:cNvPr id="1772" name="Google Shape;1772;p6"/>
            <p:cNvSpPr/>
            <p:nvPr/>
          </p:nvSpPr>
          <p:spPr>
            <a:xfrm>
              <a:off x="0" y="0"/>
              <a:ext cx="5715000" cy="1238400"/>
            </a:xfrm>
            <a:prstGeom prst="roundRect">
              <a:avLst>
                <a:gd fmla="val 6153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6"/>
            <p:cNvSpPr txBox="1"/>
            <p:nvPr/>
          </p:nvSpPr>
          <p:spPr>
            <a:xfrm>
              <a:off x="0" y="0"/>
              <a:ext cx="5715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02 </a:t>
              </a:r>
              <a:r>
                <a:rPr b="1" i="0" lang="en" sz="16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Ledger records (Immutable Ledger)</a:t>
              </a:r>
              <a:endParaRPr b="1" i="0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4B5563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Every decision hash-chained. Append-only architecture with absolute historical locking. No UPDATE, no DELETE.</a:t>
              </a:r>
              <a:endParaRPr b="0" i="0" sz="12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74" name="Google Shape;1774;p6"/>
          <p:cNvGrpSpPr/>
          <p:nvPr/>
        </p:nvGrpSpPr>
        <p:grpSpPr>
          <a:xfrm>
            <a:off x="5524500" y="4191000"/>
            <a:ext cx="5715000" cy="1238400"/>
            <a:chOff x="0" y="0"/>
            <a:chExt cx="5715000" cy="1238400"/>
          </a:xfrm>
        </p:grpSpPr>
        <p:sp>
          <p:nvSpPr>
            <p:cNvPr id="1775" name="Google Shape;1775;p6"/>
            <p:cNvSpPr/>
            <p:nvPr/>
          </p:nvSpPr>
          <p:spPr>
            <a:xfrm>
              <a:off x="0" y="0"/>
              <a:ext cx="5715000" cy="1238400"/>
            </a:xfrm>
            <a:prstGeom prst="roundRect">
              <a:avLst>
                <a:gd fmla="val 6153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6"/>
            <p:cNvSpPr txBox="1"/>
            <p:nvPr/>
          </p:nvSpPr>
          <p:spPr>
            <a:xfrm>
              <a:off x="0" y="0"/>
              <a:ext cx="57150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90500" lIns="190500" spcFirstLastPara="1" rIns="190500" wrap="square" tIns="1905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" sz="16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03 </a:t>
              </a:r>
              <a:r>
                <a:rPr b="1" i="0" lang="en" sz="16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GCL audits (Governed Cognitive Loop)</a:t>
              </a:r>
              <a:endParaRPr b="1" i="0" sz="16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803D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Independent validation system samples drops and actively attempts to falsify results using its own dedicated LLM.</a:t>
              </a:r>
              <a:endParaRPr b="0" i="0" sz="1200" u="none" cap="none" strike="noStrike">
                <a:solidFill>
                  <a:srgbClr val="15803D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0" name="Shape 1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81" name="Google Shape;1781;p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2" name="Google Shape;1782;p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783" name="Google Shape;1783;p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4" name="Google Shape;1784;p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</a:pPr>
            <a:r>
              <a:rPr lang="en"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rPr>
              <a:t>Get Started</a:t>
            </a:r>
            <a:endParaRPr/>
          </a:p>
        </p:txBody>
      </p:sp>
      <p:grpSp>
        <p:nvGrpSpPr>
          <p:cNvPr id="1785" name="Google Shape;1785;p8"/>
          <p:cNvGrpSpPr/>
          <p:nvPr/>
        </p:nvGrpSpPr>
        <p:grpSpPr>
          <a:xfrm>
            <a:off x="884872" y="1000125"/>
            <a:ext cx="10420500" cy="762000"/>
            <a:chOff x="0" y="0"/>
            <a:chExt cx="10420500" cy="762000"/>
          </a:xfrm>
        </p:grpSpPr>
        <p:sp>
          <p:nvSpPr>
            <p:cNvPr id="1786" name="Google Shape;1786;p8"/>
            <p:cNvSpPr/>
            <p:nvPr/>
          </p:nvSpPr>
          <p:spPr>
            <a:xfrm>
              <a:off x="0" y="0"/>
              <a:ext cx="104205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8"/>
            <p:cNvSpPr txBox="1"/>
            <p:nvPr/>
          </p:nvSpPr>
          <p:spPr>
            <a:xfrm>
              <a:off x="0" y="0"/>
              <a:ext cx="10420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b="1" i="0" lang="en" sz="2800" u="none" cap="none" strike="noStrike">
                  <a:solidFill>
                    <a:srgbClr val="EE000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From this deck to production on your infrastructure</a:t>
              </a:r>
              <a:endParaRPr b="1" i="0" sz="28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88" name="Google Shape;1788;p8"/>
          <p:cNvGrpSpPr/>
          <p:nvPr/>
        </p:nvGrpSpPr>
        <p:grpSpPr>
          <a:xfrm>
            <a:off x="884872" y="1857375"/>
            <a:ext cx="10422300" cy="1095300"/>
            <a:chOff x="0" y="0"/>
            <a:chExt cx="10422300" cy="1095300"/>
          </a:xfrm>
        </p:grpSpPr>
        <p:sp>
          <p:nvSpPr>
            <p:cNvPr id="1789" name="Google Shape;1789;p8"/>
            <p:cNvSpPr/>
            <p:nvPr/>
          </p:nvSpPr>
          <p:spPr>
            <a:xfrm>
              <a:off x="0" y="0"/>
              <a:ext cx="10422300" cy="1095300"/>
            </a:xfrm>
            <a:prstGeom prst="roundRect">
              <a:avLst>
                <a:gd fmla="val 6956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8"/>
            <p:cNvSpPr txBox="1"/>
            <p:nvPr/>
          </p:nvSpPr>
          <p:spPr>
            <a:xfrm>
              <a:off x="0" y="0"/>
              <a:ext cx="104223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228600" spcFirstLastPara="1" rIns="22860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6B7280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Quick Start</a:t>
              </a:r>
              <a:endParaRPr b="1" i="0" sz="1000" u="none" cap="none" strike="noStrike">
                <a:solidFill>
                  <a:srgbClr val="6B7280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500"/>
                <a:buFont typeface="Arial"/>
                <a:buNone/>
              </a:pPr>
              <a:r>
                <a:rPr b="1" i="0" lang="en" sz="1500" u="none" cap="none" strike="noStrike">
                  <a:solidFill>
                    <a:srgbClr val="151515"/>
                  </a:solidFill>
                  <a:latin typeface="Arial"/>
                  <a:ea typeface="Arial"/>
                  <a:cs typeface="Arial"/>
                  <a:sym typeface="Arial"/>
                </a:rPr>
                <a:t>pip install cascade-compression</a:t>
              </a:r>
              <a:endParaRPr b="1" i="0" sz="1500" u="none" cap="none" strike="noStrike">
                <a:solidFill>
                  <a:srgbClr val="15151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" sz="1300" u="none" cap="none" strike="noStrike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cascade-run --domain finance --llm-url https://your-llm/v1</a:t>
              </a:r>
              <a:endParaRPr b="0" i="0" sz="1300" u="none" cap="none" strike="noStrike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1" name="Google Shape;1791;p8"/>
          <p:cNvGrpSpPr/>
          <p:nvPr/>
        </p:nvGrpSpPr>
        <p:grpSpPr>
          <a:xfrm>
            <a:off x="884872" y="3143250"/>
            <a:ext cx="5067300" cy="2667000"/>
            <a:chOff x="0" y="0"/>
            <a:chExt cx="5067300" cy="2667000"/>
          </a:xfrm>
        </p:grpSpPr>
        <p:sp>
          <p:nvSpPr>
            <p:cNvPr id="1792" name="Google Shape;1792;p8"/>
            <p:cNvSpPr/>
            <p:nvPr/>
          </p:nvSpPr>
          <p:spPr>
            <a:xfrm>
              <a:off x="0" y="0"/>
              <a:ext cx="5067300" cy="2667000"/>
            </a:xfrm>
            <a:prstGeom prst="roundRect">
              <a:avLst>
                <a:gd fmla="val 2857" name="adj"/>
              </a:avLst>
            </a:prstGeom>
            <a:solidFill>
              <a:srgbClr val="F8F9FA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8"/>
            <p:cNvSpPr txBox="1"/>
            <p:nvPr/>
          </p:nvSpPr>
          <p:spPr>
            <a:xfrm>
              <a:off x="0" y="0"/>
              <a:ext cx="50673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What you need:</a:t>
              </a:r>
              <a:endParaRPr b="1" i="0" sz="1800" u="none" cap="none" strike="noStrike">
                <a:solidFill>
                  <a:srgbClr val="0071C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Intel Xeon 6 server ($30K)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+ IBM Granite 8B via llama.cpp (no GPU)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0071C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Your data source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+ a one-paragraph prompt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  <p:grpSp>
        <p:nvGrpSpPr>
          <p:cNvPr id="1794" name="Google Shape;1794;p8"/>
          <p:cNvGrpSpPr/>
          <p:nvPr/>
        </p:nvGrpSpPr>
        <p:grpSpPr>
          <a:xfrm>
            <a:off x="6239827" y="3143250"/>
            <a:ext cx="5067300" cy="2667000"/>
            <a:chOff x="0" y="0"/>
            <a:chExt cx="5067300" cy="2667000"/>
          </a:xfrm>
        </p:grpSpPr>
        <p:sp>
          <p:nvSpPr>
            <p:cNvPr id="1795" name="Google Shape;1795;p8"/>
            <p:cNvSpPr/>
            <p:nvPr/>
          </p:nvSpPr>
          <p:spPr>
            <a:xfrm>
              <a:off x="0" y="0"/>
              <a:ext cx="5067300" cy="2667000"/>
            </a:xfrm>
            <a:prstGeom prst="roundRect">
              <a:avLst>
                <a:gd fmla="val 2857" name="adj"/>
              </a:avLst>
            </a:prstGeom>
            <a:solidFill>
              <a:srgbClr val="F4FDF7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8"/>
            <p:cNvSpPr txBox="1"/>
            <p:nvPr/>
          </p:nvSpPr>
          <p:spPr>
            <a:xfrm>
              <a:off x="0" y="0"/>
              <a:ext cx="50673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2286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" sz="1800" u="none" cap="none" strike="noStrike">
                  <a:solidFill>
                    <a:srgbClr val="065F46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What you get:</a:t>
              </a:r>
              <a:endParaRPr b="1" i="0" sz="1800" u="none" cap="none" strike="noStrike">
                <a:solidFill>
                  <a:srgbClr val="065F46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99.5% compression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proven on 68.7M live signals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0 dangerous misses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across 7 domains, 6 models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100% precision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on independent audit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  <a:p>
              <a:pPr indent="-304800" lvl="0" marL="457200" marR="0" rtl="0" algn="l">
                <a:lnSpc>
                  <a:spcPct val="100000"/>
                </a:lnSpc>
                <a:spcBef>
                  <a:spcPts val="750"/>
                </a:spcBef>
                <a:spcAft>
                  <a:spcPts val="0"/>
                </a:spcAft>
                <a:buClr>
                  <a:srgbClr val="151515"/>
                </a:buClr>
                <a:buSzPts val="1200"/>
                <a:buFont typeface="Red Hat Display"/>
                <a:buChar char="●"/>
              </a:pPr>
              <a:r>
                <a:rPr b="1" i="0" lang="en" sz="1200" u="none" cap="none" strike="noStrike">
                  <a:solidFill>
                    <a:srgbClr val="22C55E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$33K 3-year TCO</a:t>
              </a: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 vs $540K cloud API</a:t>
              </a:r>
              <a:endParaRPr b="0" i="0" sz="1200" u="none" cap="none" strike="noStrike">
                <a:solidFill>
                  <a:srgbClr val="151515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0" name="Shape 1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1" name="Google Shape;1801;g3f699196abe_36_13086" title="Logo-Red_Hat-Intel-A-Standard-RGB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066" y="1314426"/>
            <a:ext cx="2149350" cy="295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02" name="Google Shape;1802;g3f699196abe_36_13086"/>
          <p:cNvCxnSpPr/>
          <p:nvPr/>
        </p:nvCxnSpPr>
        <p:spPr>
          <a:xfrm rot="10800000">
            <a:off x="447775" y="99"/>
            <a:ext cx="0" cy="8865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3" name="Google Shape;1803;g3f699196abe_36_130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04" name="Google Shape;1804;g3f699196abe_36_13086"/>
          <p:cNvSpPr txBox="1"/>
          <p:nvPr/>
        </p:nvSpPr>
        <p:spPr>
          <a:xfrm>
            <a:off x="952500" y="1714500"/>
            <a:ext cx="5541000" cy="3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" sz="5400" u="none" cap="none" strike="noStrike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Cascade Compression</a:t>
            </a:r>
            <a:endParaRPr b="1" i="0" sz="5400" u="none" cap="none" strike="noStrike">
              <a:solidFill>
                <a:srgbClr val="EE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Bring your data. </a:t>
            </a:r>
            <a:br>
              <a:rPr b="0" i="0" lang="en" sz="18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</a:br>
            <a:r>
              <a:rPr b="0" i="0" lang="en" sz="1800" u="none" cap="none" strike="noStrike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See the compression in real time.</a:t>
            </a:r>
            <a:endParaRPr b="0" i="0" sz="1800" u="none" cap="none" strike="noStrike">
              <a:solidFill>
                <a:srgbClr val="4B556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rgbClr val="4B556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rgbClr val="4B5563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https://github.com/jkershawrh/cascade-compression</a:t>
            </a:r>
            <a:endParaRPr sz="1800">
              <a:solidFill>
                <a:srgbClr val="4B5563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05" name="Google Shape;1805;g3f699196abe_36_13086"/>
          <p:cNvSpPr/>
          <p:nvPr/>
        </p:nvSpPr>
        <p:spPr>
          <a:xfrm>
            <a:off x="6858000" y="1714500"/>
            <a:ext cx="4381500" cy="2857500"/>
          </a:xfrm>
          <a:prstGeom prst="roundRect">
            <a:avLst>
              <a:gd fmla="val 2666" name="adj"/>
            </a:avLst>
          </a:prstGeom>
          <a:solidFill>
            <a:srgbClr val="F8F9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6" name="Google Shape;1806;g3f699196abe_36_130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43750" y="21145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7" name="Google Shape;1807;g3f699196abe_36_13086"/>
          <p:cNvGrpSpPr/>
          <p:nvPr/>
        </p:nvGrpSpPr>
        <p:grpSpPr>
          <a:xfrm>
            <a:off x="7524750" y="2085975"/>
            <a:ext cx="3429000" cy="285900"/>
            <a:chOff x="0" y="0"/>
            <a:chExt cx="3429000" cy="285900"/>
          </a:xfrm>
        </p:grpSpPr>
        <p:sp>
          <p:nvSpPr>
            <p:cNvPr id="1808" name="Google Shape;1808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linkedin.com/company/red-hat</a:t>
              </a:r>
              <a:endParaRPr b="0" i="0" sz="1200" u="none" cap="none" strike="noStrike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pic>
        <p:nvPicPr>
          <p:cNvPr id="1810" name="Google Shape;1810;g3f699196abe_36_1308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143750" y="26860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1" name="Google Shape;1811;g3f699196abe_36_13086"/>
          <p:cNvGrpSpPr/>
          <p:nvPr/>
        </p:nvGrpSpPr>
        <p:grpSpPr>
          <a:xfrm>
            <a:off x="7524750" y="2657475"/>
            <a:ext cx="3429000" cy="285900"/>
            <a:chOff x="0" y="0"/>
            <a:chExt cx="3429000" cy="285900"/>
          </a:xfrm>
        </p:grpSpPr>
        <p:sp>
          <p:nvSpPr>
            <p:cNvPr id="1812" name="Google Shape;1812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youtube.com/user/RedHatVideos</a:t>
              </a:r>
              <a:endParaRPr b="0" i="0" sz="1200" u="none" cap="none" strike="noStrike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  <p:pic>
        <p:nvPicPr>
          <p:cNvPr id="1814" name="Google Shape;1814;g3f699196abe_36_1308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43750" y="32575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5" name="Google Shape;1815;g3f699196abe_36_13086"/>
          <p:cNvGrpSpPr/>
          <p:nvPr/>
        </p:nvGrpSpPr>
        <p:grpSpPr>
          <a:xfrm>
            <a:off x="7524750" y="3228975"/>
            <a:ext cx="3429000" cy="285900"/>
            <a:chOff x="0" y="0"/>
            <a:chExt cx="3429000" cy="285900"/>
          </a:xfrm>
        </p:grpSpPr>
        <p:sp>
          <p:nvSpPr>
            <p:cNvPr id="1816" name="Google Shape;1816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1515"/>
                  </a:solidFill>
                  <a:latin typeface="Red Hat Text Medium"/>
                  <a:ea typeface="Red Hat Text Medium"/>
                  <a:cs typeface="Red Hat Text Medium"/>
                  <a:sym typeface="Red Hat Text Medium"/>
                </a:rPr>
                <a:t>facebook.com/redhatinc</a:t>
              </a:r>
              <a:endParaRPr b="0" i="0" sz="1200" u="none" cap="none" strike="noStrike">
                <a:solidFill>
                  <a:srgbClr val="151515"/>
                </a:solidFill>
                <a:latin typeface="Red Hat Text Medium"/>
                <a:ea typeface="Red Hat Text Medium"/>
                <a:cs typeface="Red Hat Text Medium"/>
                <a:sym typeface="Red Hat Text Medium"/>
              </a:endParaRPr>
            </a:p>
          </p:txBody>
        </p:sp>
      </p:grpSp>
      <p:pic>
        <p:nvPicPr>
          <p:cNvPr id="1818" name="Google Shape;1818;g3f699196abe_36_1308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143750" y="3829050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19" name="Google Shape;1819;g3f699196abe_36_13086"/>
          <p:cNvGrpSpPr/>
          <p:nvPr/>
        </p:nvGrpSpPr>
        <p:grpSpPr>
          <a:xfrm>
            <a:off x="7524750" y="3800475"/>
            <a:ext cx="3429000" cy="285900"/>
            <a:chOff x="0" y="0"/>
            <a:chExt cx="3429000" cy="285900"/>
          </a:xfrm>
        </p:grpSpPr>
        <p:sp>
          <p:nvSpPr>
            <p:cNvPr id="1820" name="Google Shape;1820;g3f699196abe_36_13086"/>
            <p:cNvSpPr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g3f699196abe_36_13086"/>
            <p:cNvSpPr txBox="1"/>
            <p:nvPr/>
          </p:nvSpPr>
          <p:spPr>
            <a:xfrm>
              <a:off x="0" y="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151515"/>
                  </a:solidFill>
                  <a:latin typeface="Red Hat Display Medium"/>
                  <a:ea typeface="Red Hat Display Medium"/>
                  <a:cs typeface="Red Hat Display Medium"/>
                  <a:sym typeface="Red Hat Display Medium"/>
                </a:rPr>
                <a:t>twitter.com/RedHat</a:t>
              </a:r>
              <a:endParaRPr b="0" i="0" sz="1200" u="none" cap="none" strike="noStrike">
                <a:solidFill>
                  <a:srgbClr val="151515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